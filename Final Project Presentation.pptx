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71" r:id="rId4"/>
    <p:sldId id="257" r:id="rId5"/>
    <p:sldId id="262" r:id="rId6"/>
    <p:sldId id="273" r:id="rId7"/>
    <p:sldId id="263" r:id="rId8"/>
    <p:sldId id="274" r:id="rId9"/>
    <p:sldId id="264" r:id="rId10"/>
    <p:sldId id="265" r:id="rId11"/>
    <p:sldId id="270" r:id="rId12"/>
    <p:sldId id="276" r:id="rId13"/>
    <p:sldId id="266" r:id="rId14"/>
    <p:sldId id="267" r:id="rId15"/>
    <p:sldId id="268" r:id="rId16"/>
    <p:sldId id="288" r:id="rId17"/>
    <p:sldId id="290" r:id="rId18"/>
    <p:sldId id="269" r:id="rId19"/>
    <p:sldId id="280" r:id="rId20"/>
    <p:sldId id="279" r:id="rId21"/>
    <p:sldId id="281" r:id="rId22"/>
    <p:sldId id="289" r:id="rId23"/>
    <p:sldId id="282" r:id="rId24"/>
    <p:sldId id="261" r:id="rId25"/>
    <p:sldId id="285" r:id="rId26"/>
    <p:sldId id="286" r:id="rId27"/>
    <p:sldId id="287" r:id="rId28"/>
    <p:sldId id="283" r:id="rId29"/>
    <p:sldId id="291" r:id="rId30"/>
    <p:sldId id="293" r:id="rId31"/>
    <p:sldId id="258" r:id="rId32"/>
    <p:sldId id="292" r:id="rId3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vindu Sachintha Haupe Liyanage" initials="RSHL" lastIdx="1" clrIdx="0">
    <p:extLst>
      <p:ext uri="{19B8F6BF-5375-455C-9EA6-DF929625EA0E}">
        <p15:presenceInfo xmlns:p15="http://schemas.microsoft.com/office/powerpoint/2012/main" userId="Ravindu Sachintha Haupe Liyanag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5F9"/>
    <a:srgbClr val="EDF1F9"/>
    <a:srgbClr val="FF66FF"/>
    <a:srgbClr val="EFF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42" autoAdjust="0"/>
    <p:restoredTop sz="93713" autoAdjust="0"/>
  </p:normalViewPr>
  <p:slideViewPr>
    <p:cSldViewPr snapToGrid="0">
      <p:cViewPr varScale="1">
        <p:scale>
          <a:sx n="79" d="100"/>
          <a:sy n="79" d="100"/>
        </p:scale>
        <p:origin x="120" y="4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F622A-4CAA-4430-A2F3-3D28493A3B3C}" type="datetimeFigureOut">
              <a:rPr lang="en-SE" smtClean="0"/>
              <a:t>2026-08-25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7EFEB-A66B-4512-858C-B4023B0A4E4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8387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7EFEB-A66B-4512-858C-B4023B0A4E46}" type="slidenum">
              <a:rPr lang="en-SE" smtClean="0"/>
              <a:t>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04570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7EFEB-A66B-4512-858C-B4023B0A4E46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8579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/>
                <a:cs typeface="Arial Unicode MS"/>
              </a:rPr>
              <a:t>These findings suggest that higher FOLH1 expression is associated with a less immune-inflamed tumor microenvironment.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7EFEB-A66B-4512-858C-B4023B0A4E46}" type="slidenum">
              <a:rPr lang="en-SE" smtClean="0"/>
              <a:t>16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71495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7EFEB-A66B-4512-858C-B4023B0A4E46}" type="slidenum">
              <a:rPr lang="en-SE" smtClean="0"/>
              <a:t>25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24279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7EFEB-A66B-4512-858C-B4023B0A4E46}" type="slidenum">
              <a:rPr lang="en-SE" smtClean="0"/>
              <a:t>26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32692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7EFEB-A66B-4512-858C-B4023B0A4E46}" type="slidenum">
              <a:rPr lang="en-SE" smtClean="0"/>
              <a:t>30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3041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7337F-1732-46D7-A844-51494129F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3638A-5D08-4EE6-B019-61F0A88CC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8FDA2-1C91-4878-9966-704F3F28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6A35-B3D5-435A-AB98-9D4EAEDC6B13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587C5-9440-4981-8534-A5E02C07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10DF5-A56A-4C13-B1B2-70F09E9F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5939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8A4C-A986-4611-BDBC-C0088806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06B41-5C3A-475F-8DE4-72CF9B03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EF248-1439-4C84-A9EE-58A23E9A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05CC-5803-49D5-A15C-A7CC7765C07C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16AE9-91B5-46BC-B9ED-CC9EAC5F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BEAA3-80A9-4EA4-9A80-7524E5D0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946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BB5B-83CF-4262-85AE-BEA3AB65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F97C9-50B2-481E-A6E3-2485FCB2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CE444-0C72-4B19-80F1-E1EBD0A0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B6DAA-5B5F-480E-A99F-D88615EB4DFC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0E11F-CC5E-4EB0-9656-4042D3B9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E06F-CD9D-40AD-8CCC-46458E5A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3324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02F6-88FB-491B-AF55-5710B6E5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B80F-EED8-44AF-8DDE-148577DB6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1D871-0E01-4650-B8C4-FC2558720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4082F-6887-4720-9E06-0FA1560B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75DE-5F20-4345-99A1-BA06060AB893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085E7-7BA4-4101-AD3D-0C1DB6A7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13AAA-9818-46BA-924B-A9290BFC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3760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C949-4A83-4386-A1D9-C2BB0AAD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61369-21BA-4334-BA85-ADC26F70D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C7EF0-6D67-44B2-9D00-52F4C9F3F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EF016-5B14-4939-B4FF-3BB91F8CA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656DE4-39BA-448E-8293-9A1DE40D3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46BAD-4ED3-48AA-98A3-3667FBD6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7DC1-9263-4D18-BFA4-623048A368C3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1B438-11F8-410D-9CF8-2129DC89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B02C6-10E7-4170-B013-19A124DA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1978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D3C9-EBA6-4BBF-85CF-774D9CD0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22EB3-E6BA-447C-A496-AE4CDE66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1460-1C47-4A9D-88BA-C12FA4DA4611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E4E5D-3836-48FE-B382-62D94871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D922C-E5B5-4A8F-A874-7E60579B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8736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65F202-1CCA-420F-84F1-0F24EDAF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0C58-0E93-4EBB-800D-FBEE8075CE79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DD2A1-F478-46DE-A66B-3CB5A96E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C381E-15F5-41CF-BFD8-D70D2DE5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3335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BE01-2A16-4F13-95A2-BF66704E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948B-8831-4673-BCD3-4A22A0BA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0A884-43EC-4653-BF9B-4C2F70029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40EEC-A718-4B4B-9E49-693E104F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F4F0-64A3-4262-80E3-746FF6B1C08F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584D3-91C7-4A05-B78C-0DC10920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F6884-7548-4DE5-930F-B98D3034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67588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F42C-4C4F-4BF9-9374-303BBFB6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11D22-CBFA-4582-BB9C-D2A631A6D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83914-9853-457E-8FBE-8E2355CA4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A4A4C-13BE-448E-A784-9C5A289B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43F8-0A3B-4C6B-A626-3BFA4A4EBCB0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17C9B-53A6-4073-9385-248CDFF6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86FCF-4B5F-4D0E-9D2C-7EFA4159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183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0127-B151-4D9A-9585-75282FB9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89755-7A05-4ADF-91EE-CCE62E983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6362E-E967-40CE-A1F7-03D10C53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43932-C6F9-4457-9D7D-6353E5FD87DD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EDD87-4D5D-44A3-9360-8C0B2A38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95FD6-E7FB-40E0-884A-F2EBD8BF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8313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FC449-E26E-4547-A5FE-25AC32F05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1643A-0B29-4DDA-840C-575151831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AB22-EDA0-46BC-B238-D6C2FE8B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F18E-6927-47F2-9C67-595722AAA6E2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13B32-958A-448E-95AC-2E9140CB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0049D-4781-4F10-8CE8-F1498438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4721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B93E2-E376-49C9-8825-82DBE785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08A5F-3A0D-4BB8-A75B-E3DEB3A17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A330A-C021-4D4D-9D23-E57043971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1B01D-FBDE-4734-A241-6BCACA212818}" type="datetime8">
              <a:rPr lang="en-SE" smtClean="0"/>
              <a:t>2026-08-25 11:26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C840-2E96-44D5-BC04-C7D1A4F05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68B97-690A-4E72-82C9-B1D9E6DDE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860B0-6E1E-4F75-8623-B3EC2564996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3133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S0140-6736(24)00651-2" TargetMode="External"/><Relationship Id="rId7" Type="http://schemas.openxmlformats.org/officeDocument/2006/relationships/hyperlink" Target="https://doi.org/10.1371/journal.pcbi.1014315" TargetMode="External"/><Relationship Id="rId2" Type="http://schemas.openxmlformats.org/officeDocument/2006/relationships/hyperlink" Target="https://doi.org/10.1038/s41467-018-05692-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22/caac.70090" TargetMode="External"/><Relationship Id="rId5" Type="http://schemas.openxmlformats.org/officeDocument/2006/relationships/hyperlink" Target="https://doi.org/10.1038/s41568-025-00810-1" TargetMode="External"/><Relationship Id="rId4" Type="http://schemas.openxmlformats.org/officeDocument/2006/relationships/hyperlink" Target="https://doi.org/10.1007/s12029-025-01183-2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730D-E6F0-4491-B8BA-EC0972262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7" y="1975483"/>
            <a:ext cx="8926285" cy="2339295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FOLH1 &amp; PIP5K1A as a Context-Dependent Markers of Tumor Biology Across Cancer Types, Disease Progression and Tumor Immune Microenvironment</a:t>
            </a:r>
            <a:endParaRPr lang="en-S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9C8C6-0B09-42B7-AAB9-95060584EB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27" b="25503"/>
          <a:stretch/>
        </p:blipFill>
        <p:spPr>
          <a:xfrm>
            <a:off x="9070644" y="263524"/>
            <a:ext cx="2814331" cy="664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9FFF0F-DD73-4A53-A192-4947DFCE1B2D}"/>
              </a:ext>
            </a:extLst>
          </p:cNvPr>
          <p:cNvSpPr txBox="1"/>
          <p:nvPr/>
        </p:nvSpPr>
        <p:spPr>
          <a:xfrm>
            <a:off x="8454657" y="6351760"/>
            <a:ext cx="261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rasa0105@student.umu.se</a:t>
            </a:r>
            <a:endParaRPr lang="en-SE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F6993-2284-4527-A1AF-6D60CA95F521}"/>
              </a:ext>
            </a:extLst>
          </p:cNvPr>
          <p:cNvSpPr txBox="1"/>
          <p:nvPr/>
        </p:nvSpPr>
        <p:spPr>
          <a:xfrm>
            <a:off x="3581099" y="4385954"/>
            <a:ext cx="47173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Practice in Bioinformatics, 15 credits</a:t>
            </a:r>
          </a:p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Jenny Persson Lab</a:t>
            </a:r>
            <a:endParaRPr lang="en-SE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71A36-60DB-44D1-800D-1DA074138CC0}"/>
              </a:ext>
            </a:extLst>
          </p:cNvPr>
          <p:cNvSpPr txBox="1"/>
          <p:nvPr/>
        </p:nvSpPr>
        <p:spPr>
          <a:xfrm>
            <a:off x="838200" y="635176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Ravindu Liyanage</a:t>
            </a:r>
            <a:endParaRPr lang="en-SE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520DEF-0BDA-4557-9F05-D095FE94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2743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val 67">
            <a:extLst>
              <a:ext uri="{FF2B5EF4-FFF2-40B4-BE49-F238E27FC236}">
                <a16:creationId xmlns:a16="http://schemas.microsoft.com/office/drawing/2014/main" id="{C9653437-D1DD-4800-8A75-3261F360EA9A}"/>
              </a:ext>
            </a:extLst>
          </p:cNvPr>
          <p:cNvSpPr/>
          <p:nvPr/>
        </p:nvSpPr>
        <p:spPr>
          <a:xfrm>
            <a:off x="-691541" y="-613301"/>
            <a:ext cx="5228808" cy="212663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6963FB8-626F-41DE-B7C7-D3A78B66DB5A}"/>
              </a:ext>
            </a:extLst>
          </p:cNvPr>
          <p:cNvSpPr/>
          <p:nvPr/>
        </p:nvSpPr>
        <p:spPr>
          <a:xfrm>
            <a:off x="479203" y="5383314"/>
            <a:ext cx="2784608" cy="3693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BD8CF6F-1989-4C13-B511-BA1178100141}"/>
              </a:ext>
            </a:extLst>
          </p:cNvPr>
          <p:cNvSpPr/>
          <p:nvPr/>
        </p:nvSpPr>
        <p:spPr>
          <a:xfrm>
            <a:off x="443290" y="1796317"/>
            <a:ext cx="2232623" cy="3693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32398-4483-4513-A553-1B834DF1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36" y="219293"/>
            <a:ext cx="4666103" cy="74757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Cohorts &amp; Data Used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B621-C29B-4FF2-95AE-B52C3482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</a:t>
            </a:fld>
            <a:endParaRPr lang="en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99789-34F9-453D-AEB4-8EBE31AC0E98}"/>
              </a:ext>
            </a:extLst>
          </p:cNvPr>
          <p:cNvSpPr txBox="1"/>
          <p:nvPr/>
        </p:nvSpPr>
        <p:spPr>
          <a:xfrm>
            <a:off x="413970" y="180899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 Cohorts Used 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3F1D1-7383-4DAB-A480-B7CB78D65BCC}"/>
              </a:ext>
            </a:extLst>
          </p:cNvPr>
          <p:cNvSpPr txBox="1"/>
          <p:nvPr/>
        </p:nvSpPr>
        <p:spPr>
          <a:xfrm>
            <a:off x="3650197" y="1818895"/>
            <a:ext cx="17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TCGA pan cancer</a:t>
            </a:r>
            <a:endParaRPr lang="en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582FF-293E-4739-A781-925142BB3408}"/>
              </a:ext>
            </a:extLst>
          </p:cNvPr>
          <p:cNvSpPr txBox="1"/>
          <p:nvPr/>
        </p:nvSpPr>
        <p:spPr>
          <a:xfrm>
            <a:off x="6805668" y="2147782"/>
            <a:ext cx="2722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TCGA-PRAD</a:t>
            </a:r>
            <a:br>
              <a:rPr lang="en-US" dirty="0"/>
            </a:br>
            <a:r>
              <a:rPr lang="en-US" dirty="0"/>
              <a:t>(prostate adenocarcinoma)</a:t>
            </a:r>
            <a:endParaRPr lang="en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4B27D-7419-41DD-B75D-53F0B5CD66BE}"/>
              </a:ext>
            </a:extLst>
          </p:cNvPr>
          <p:cNvSpPr txBox="1"/>
          <p:nvPr/>
        </p:nvSpPr>
        <p:spPr>
          <a:xfrm>
            <a:off x="6716481" y="1040355"/>
            <a:ext cx="2923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TCGA-PAAD</a:t>
            </a:r>
            <a:br>
              <a:rPr lang="en-US" dirty="0"/>
            </a:br>
            <a:r>
              <a:rPr lang="en-US" dirty="0"/>
              <a:t>(pancreatic adenocarcinoma)</a:t>
            </a:r>
            <a:endParaRPr lang="en-S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86BBF-ED51-415F-B1F8-7F0312932D6C}"/>
              </a:ext>
            </a:extLst>
          </p:cNvPr>
          <p:cNvSpPr txBox="1"/>
          <p:nvPr/>
        </p:nvSpPr>
        <p:spPr>
          <a:xfrm>
            <a:off x="3646310" y="3691533"/>
            <a:ext cx="281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MSKCC 2010</a:t>
            </a:r>
          </a:p>
          <a:p>
            <a:r>
              <a:rPr lang="en-US" dirty="0"/>
              <a:t>(prostate adenocarcinoma)</a:t>
            </a:r>
            <a:endParaRPr lang="en-S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E788FB-06CB-4EEE-AAF0-A68FB4006B43}"/>
              </a:ext>
            </a:extLst>
          </p:cNvPr>
          <p:cNvSpPr txBox="1"/>
          <p:nvPr/>
        </p:nvSpPr>
        <p:spPr>
          <a:xfrm>
            <a:off x="3646310" y="2608307"/>
            <a:ext cx="1878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SU2C 2019</a:t>
            </a:r>
          </a:p>
          <a:p>
            <a:r>
              <a:rPr lang="en-US" dirty="0"/>
              <a:t>(metastatic PRAD)</a:t>
            </a:r>
            <a:endParaRPr lang="en-SE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DA249E-0745-4B3F-AEF7-15A557B7E2C3}"/>
              </a:ext>
            </a:extLst>
          </p:cNvPr>
          <p:cNvCxnSpPr>
            <a:cxnSpLocks/>
          </p:cNvCxnSpPr>
          <p:nvPr/>
        </p:nvCxnSpPr>
        <p:spPr>
          <a:xfrm flipV="1">
            <a:off x="2815268" y="1929153"/>
            <a:ext cx="729443" cy="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3ACCF62-A1E8-4B5B-B81E-290C67DD376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537180" y="1993656"/>
            <a:ext cx="1268488" cy="477292"/>
          </a:xfrm>
          <a:prstGeom prst="bentConnector3">
            <a:avLst>
              <a:gd name="adj1" fmla="val -25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8BE2DF5-1089-44A0-9DAB-64563CB01B85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537180" y="1363521"/>
            <a:ext cx="1179301" cy="565632"/>
          </a:xfrm>
          <a:prstGeom prst="bentConnector3">
            <a:avLst>
              <a:gd name="adj1" fmla="val -16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37847EE-CF87-4D43-A192-22025E2DC474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2770693" y="2055856"/>
            <a:ext cx="927912" cy="8233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828CD7F-98B9-4CE5-8A79-FE8084951D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76696" y="3052722"/>
            <a:ext cx="927912" cy="8233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2FF308F-289B-42AB-A56D-7CE49FF4D5BC}"/>
              </a:ext>
            </a:extLst>
          </p:cNvPr>
          <p:cNvSpPr txBox="1"/>
          <p:nvPr/>
        </p:nvSpPr>
        <p:spPr>
          <a:xfrm>
            <a:off x="413970" y="5370641"/>
            <a:ext cx="278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Experimental Mouse Model</a:t>
            </a:r>
            <a:endParaRPr lang="en-SE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654394-319B-4AB7-9DE8-F521269EEE9B}"/>
              </a:ext>
            </a:extLst>
          </p:cNvPr>
          <p:cNvSpPr txBox="1"/>
          <p:nvPr/>
        </p:nvSpPr>
        <p:spPr>
          <a:xfrm>
            <a:off x="4265148" y="5132886"/>
            <a:ext cx="4035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Pancreatic tumors: PIP5K1A WT/KO with different treatments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Original tumor (female)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Syngeneic tumor (Male and female)</a:t>
            </a:r>
            <a:endParaRPr lang="en-SE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D4CD5E1-DB74-4092-BAD8-7BB637650701}"/>
              </a:ext>
            </a:extLst>
          </p:cNvPr>
          <p:cNvCxnSpPr>
            <a:cxnSpLocks/>
          </p:cNvCxnSpPr>
          <p:nvPr/>
        </p:nvCxnSpPr>
        <p:spPr>
          <a:xfrm flipV="1">
            <a:off x="3373647" y="5583674"/>
            <a:ext cx="729443" cy="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C60E88B-6367-4FFF-AA20-501E40CCBDEA}"/>
              </a:ext>
            </a:extLst>
          </p:cNvPr>
          <p:cNvCxnSpPr>
            <a:cxnSpLocks/>
          </p:cNvCxnSpPr>
          <p:nvPr/>
        </p:nvCxnSpPr>
        <p:spPr>
          <a:xfrm>
            <a:off x="9738911" y="0"/>
            <a:ext cx="0" cy="6858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F16B029-B994-4033-924A-5B0A6FF4C975}"/>
              </a:ext>
            </a:extLst>
          </p:cNvPr>
          <p:cNvCxnSpPr>
            <a:cxnSpLocks/>
          </p:cNvCxnSpPr>
          <p:nvPr/>
        </p:nvCxnSpPr>
        <p:spPr>
          <a:xfrm>
            <a:off x="0" y="4672361"/>
            <a:ext cx="1221058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CF9B4E5-C9E8-4821-9842-298860022478}"/>
              </a:ext>
            </a:extLst>
          </p:cNvPr>
          <p:cNvSpPr txBox="1"/>
          <p:nvPr/>
        </p:nvSpPr>
        <p:spPr>
          <a:xfrm>
            <a:off x="9915426" y="965177"/>
            <a:ext cx="220824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Using TCGAbiolinks package in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Downloading rds and clinical data files from cBioPortal and uploading to R using the SummrizedExperiments package</a:t>
            </a:r>
            <a:endParaRPr lang="en-SE" sz="17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DE794C-843E-48FD-BB79-EB9846A184F0}"/>
              </a:ext>
            </a:extLst>
          </p:cNvPr>
          <p:cNvSpPr txBox="1"/>
          <p:nvPr/>
        </p:nvSpPr>
        <p:spPr>
          <a:xfrm>
            <a:off x="10048956" y="304981"/>
            <a:ext cx="1559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Accessing data</a:t>
            </a:r>
            <a:endParaRPr lang="en-SE" u="sng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FE5A03-052D-424D-8B76-BB1F1666AC3F}"/>
              </a:ext>
            </a:extLst>
          </p:cNvPr>
          <p:cNvSpPr txBox="1"/>
          <p:nvPr/>
        </p:nvSpPr>
        <p:spPr>
          <a:xfrm>
            <a:off x="10001472" y="5278308"/>
            <a:ext cx="174858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RAW FASTA sequencing files from Novogene 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219384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F600-1EE0-4FE4-91AC-B51AB7D8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Prostate Adenocarcinoma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(PRAD)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8BA48-2238-44B3-B600-B2F907D8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4569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93FE54-12D6-43FB-861E-42CACBCA6242}"/>
              </a:ext>
            </a:extLst>
          </p:cNvPr>
          <p:cNvSpPr/>
          <p:nvPr/>
        </p:nvSpPr>
        <p:spPr>
          <a:xfrm>
            <a:off x="1423685" y="1074550"/>
            <a:ext cx="5179133" cy="1264614"/>
          </a:xfrm>
          <a:prstGeom prst="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494BF9-DE06-472F-A917-31192C135901}"/>
              </a:ext>
            </a:extLst>
          </p:cNvPr>
          <p:cNvSpPr/>
          <p:nvPr/>
        </p:nvSpPr>
        <p:spPr>
          <a:xfrm>
            <a:off x="7465628" y="3429000"/>
            <a:ext cx="4340550" cy="31099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96945-37E0-44ED-AF55-AE5BDC14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40" y="135576"/>
            <a:ext cx="2786743" cy="83820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BA36E-AB04-4BF5-9F71-07D98E0C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47" y="1117082"/>
            <a:ext cx="6411685" cy="547551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cs typeface="Times New Roman" panose="02020603050405020304" pitchFamily="18" charset="0"/>
              </a:rPr>
              <a:t>	Prostate cancer: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cs typeface="Times New Roman" panose="02020603050405020304" pitchFamily="18" charset="0"/>
              </a:rPr>
              <a:t>	2</a:t>
            </a:r>
            <a:r>
              <a:rPr lang="en-US" sz="1700" baseline="30000" dirty="0">
                <a:cs typeface="Times New Roman" panose="02020603050405020304" pitchFamily="18" charset="0"/>
              </a:rPr>
              <a:t>nd</a:t>
            </a:r>
            <a:r>
              <a:rPr lang="en-US" sz="1700" dirty="0">
                <a:cs typeface="Times New Roman" panose="02020603050405020304" pitchFamily="18" charset="0"/>
              </a:rPr>
              <a:t> most commonly diagnosed cancer</a:t>
            </a:r>
            <a:br>
              <a:rPr lang="en-US" sz="1700" dirty="0">
                <a:cs typeface="Times New Roman" panose="02020603050405020304" pitchFamily="18" charset="0"/>
              </a:rPr>
            </a:br>
            <a:r>
              <a:rPr lang="en-US" sz="1700" dirty="0">
                <a:cs typeface="Times New Roman" panose="02020603050405020304" pitchFamily="18" charset="0"/>
              </a:rPr>
              <a:t>	5</a:t>
            </a:r>
            <a:r>
              <a:rPr lang="en-US" sz="1700" baseline="30000" dirty="0">
                <a:cs typeface="Times New Roman" panose="02020603050405020304" pitchFamily="18" charset="0"/>
              </a:rPr>
              <a:t>th</a:t>
            </a:r>
            <a:r>
              <a:rPr lang="en-US" sz="1700" dirty="0">
                <a:cs typeface="Times New Roman" panose="02020603050405020304" pitchFamily="18" charset="0"/>
              </a:rPr>
              <a:t>  leading cause of cancer death in men worldwide.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cs typeface="Times New Roman" panose="02020603050405020304" pitchFamily="18" charset="0"/>
              </a:rPr>
              <a:t> 	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b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cs typeface="Times New Roman" panose="02020603050405020304" pitchFamily="18" charset="0"/>
              </a:rPr>
              <a:t>PSMA: 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Type II transmembrane glycoprotein encoded by FOLH1.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Highly enriched in prostate cancer compared with normal or benign tissue. 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Expression generally increases with disease progression and metastasis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Can be lost in androgen-receptor–negative or neuroendocrine prostate cancer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DF53FC-B814-4F0B-9432-CF6CF3A3E7A8}"/>
              </a:ext>
            </a:extLst>
          </p:cNvPr>
          <p:cNvSpPr txBox="1">
            <a:spLocks/>
          </p:cNvSpPr>
          <p:nvPr/>
        </p:nvSpPr>
        <p:spPr>
          <a:xfrm>
            <a:off x="8784772" y="3812306"/>
            <a:ext cx="2786743" cy="838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Rationale: </a:t>
            </a:r>
            <a:endParaRPr lang="en-S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F9126F-71CB-4DEA-87BB-F044A1D608DD}"/>
              </a:ext>
            </a:extLst>
          </p:cNvPr>
          <p:cNvSpPr txBox="1">
            <a:spLocks/>
          </p:cNvSpPr>
          <p:nvPr/>
        </p:nvSpPr>
        <p:spPr>
          <a:xfrm>
            <a:off x="8174515" y="4586036"/>
            <a:ext cx="3397000" cy="1238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700" dirty="0">
                <a:latin typeface="+mj-lt"/>
                <a:cs typeface="Times New Roman" panose="02020603050405020304" pitchFamily="18" charset="0"/>
              </a:rPr>
              <a:t>To investigate whether FOLH1 expression is associated with cancer type, tumor progression and survival and microenvironmental features.</a:t>
            </a:r>
            <a:endParaRPr lang="en-SE" sz="17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B7307-7BFF-48D3-A74C-76B56CF2A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704" y="319088"/>
            <a:ext cx="3406287" cy="272503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363B49-44FE-4F86-9A12-30DF4E46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5218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41A6-DEE4-4539-98FB-977CB049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96" y="221225"/>
            <a:ext cx="10771208" cy="56085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FOLH1 Across Cancer Types in TCGA Pan cancer Cohort 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FDBA3-B2EB-4F33-9877-F2E205B8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5</a:t>
            </a:fld>
            <a:endParaRPr lang="en-S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47D70-BF52-43A1-81AF-87A627BB2C4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" r="3840"/>
          <a:stretch/>
        </p:blipFill>
        <p:spPr bwMode="auto">
          <a:xfrm>
            <a:off x="4659336" y="1041991"/>
            <a:ext cx="7105343" cy="56794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13A4AF-A1AA-4512-9D74-31BC6571D7E7}"/>
              </a:ext>
            </a:extLst>
          </p:cNvPr>
          <p:cNvSpPr txBox="1"/>
          <p:nvPr/>
        </p:nvSpPr>
        <p:spPr>
          <a:xfrm>
            <a:off x="427321" y="1890408"/>
            <a:ext cx="393202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effectLst/>
                <a:ea typeface="Aptos"/>
              </a:rPr>
              <a:t>Overall, FOLH1 expression differed strongly across cancer types, with the group comparison reaching extreme significance (Kruskal-Wallis p &lt; 2.2e-16)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effectLst/>
              <a:ea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effectLst/>
                <a:ea typeface="Aptos"/>
              </a:rPr>
              <a:t>FOLH1 showed the highest median expression in prostate adenocarcinoma.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It remained the dominant outlier and the rest of the cancers clustered at much lower expression levels.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349889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41A6-DEE4-4539-98FB-977CB049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92" y="259309"/>
            <a:ext cx="7602507" cy="5608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FOLH1 Expression Across Normal Solid Tissue, Primary and Metastatic tumors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FDBA3-B2EB-4F33-9877-F2E205B8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6</a:t>
            </a:fld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3A4AF-A1AA-4512-9D74-31BC6571D7E7}"/>
              </a:ext>
            </a:extLst>
          </p:cNvPr>
          <p:cNvSpPr txBox="1"/>
          <p:nvPr/>
        </p:nvSpPr>
        <p:spPr>
          <a:xfrm>
            <a:off x="5049979" y="1106156"/>
            <a:ext cx="6800062" cy="162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Higher median FOLH1 expression in primary tumors (Two-sided t-test: 𝑝=5.7×10−5)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FOLH1 may distinguish prostate tumor tissue from normal prostate tissue in this cohort.</a:t>
            </a:r>
            <a:endParaRPr lang="en-GB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E9C87-EB75-4F84-BA96-3D9EBE1ED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00" y="1220536"/>
            <a:ext cx="4288979" cy="35741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961203-D712-421F-BF2B-15B6CCF83F64}"/>
              </a:ext>
            </a:extLst>
          </p:cNvPr>
          <p:cNvSpPr txBox="1"/>
          <p:nvPr/>
        </p:nvSpPr>
        <p:spPr>
          <a:xfrm>
            <a:off x="582592" y="5334389"/>
            <a:ext cx="7007726" cy="834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Metastatic tumors showed a slightly higher median FOLH1 expression than primary tumors (not statistically significant: t-test, 𝑝=0.24)</a:t>
            </a:r>
            <a:endParaRPr lang="en-GB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0E4BC0-C5EF-47AE-A99A-524DC9360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09" y="3147325"/>
            <a:ext cx="4288981" cy="357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83F8-8771-4240-89B2-DD6D24DA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47156" cy="69424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FOLH1 &amp; Prostate Cancer Progression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0F48E-BC93-4643-B60A-7F713246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7</a:t>
            </a:fld>
            <a:endParaRPr lang="en-S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67DD3-2657-4E65-AEDA-54C18E4C1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04" y="1331906"/>
            <a:ext cx="4557860" cy="3581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9DE7B-EE10-4E89-9D3B-0FE2FA386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339" y="1331906"/>
            <a:ext cx="5177940" cy="36985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FBE282-589C-46AD-B600-6C0C17984622}"/>
              </a:ext>
            </a:extLst>
          </p:cNvPr>
          <p:cNvSpPr txBox="1"/>
          <p:nvPr/>
        </p:nvSpPr>
        <p:spPr>
          <a:xfrm>
            <a:off x="6096000" y="5179386"/>
            <a:ext cx="506357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FOLH1 showed a significant difference (p= 0.000392, pairwise Wilcoxon) between T2 and T3 groups, in primary tumors. Comparison across other groups were not statistically significant. </a:t>
            </a:r>
            <a:endParaRPr lang="en-SE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A77F07-F93D-4DC3-8016-78DEE83C93B6}"/>
              </a:ext>
            </a:extLst>
          </p:cNvPr>
          <p:cNvSpPr txBox="1"/>
          <p:nvPr/>
        </p:nvSpPr>
        <p:spPr>
          <a:xfrm>
            <a:off x="637876" y="5156021"/>
            <a:ext cx="506357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FOLH1 showed a significant difference among Gleason groups in Primary tumors (p= 2.62E-06), suggesting Gleason score dependent expression differences.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201553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B881E-93FF-434F-9B3F-0ECE6AA9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8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E148C-7651-4B07-929D-E8484353F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730" y="1401089"/>
            <a:ext cx="3587081" cy="34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E2D3C-8A19-4922-92F3-EA89C4237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401090"/>
            <a:ext cx="4257134" cy="356431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07C4321-327B-4DE0-B286-E8AAB83A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92" y="259309"/>
            <a:ext cx="11340703" cy="5608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Study on Primary and Metastatic Tumor Patients With Respect to FOLH1 Expression Levels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CFD3B-CE93-4980-885D-685929EE106A}"/>
              </a:ext>
            </a:extLst>
          </p:cNvPr>
          <p:cNvSpPr txBox="1"/>
          <p:nvPr/>
        </p:nvSpPr>
        <p:spPr>
          <a:xfrm>
            <a:off x="1903739" y="5220693"/>
            <a:ext cx="8147743" cy="836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No significant difference was observed in DFS between the two groups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FOLH1 expression alone did not demonstrate prognostic value for survival stratification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43871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C68FC-2FDA-49A1-BD4F-A458FD9C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9</a:t>
            </a:fld>
            <a:endParaRPr lang="en-S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63AAAB-C2F5-446E-AFEC-CDF77AF15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24" y="1047623"/>
            <a:ext cx="4570579" cy="3199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14789E-F015-444E-847D-D6A42FC36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711" y="901895"/>
            <a:ext cx="2864053" cy="2527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6B6B7C-3FD2-459B-A148-EA9724AEF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414" y="3869474"/>
            <a:ext cx="2979972" cy="2629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B40504-0D67-4A1A-ADCD-D370D11D9E66}"/>
              </a:ext>
            </a:extLst>
          </p:cNvPr>
          <p:cNvSpPr txBox="1"/>
          <p:nvPr/>
        </p:nvSpPr>
        <p:spPr>
          <a:xfrm>
            <a:off x="588850" y="4432746"/>
            <a:ext cx="550715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FOLH1 expression differed significantly between metastatic biopsy sites (Kruskal–Wallis p=&lt;0.001).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Highest in lymph-node and bone metastases.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Lowest in liver metastases.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Pairwise testing identified significant differences between lymph node and liver (adj = 1.12×10−8) and between bone and liver (𝑝 adj = 0.000613)</a:t>
            </a:r>
            <a:endParaRPr lang="en-SE" sz="1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5053D-8CF0-48A4-8450-AE5A8C7EADCD}"/>
              </a:ext>
            </a:extLst>
          </p:cNvPr>
          <p:cNvSpPr txBox="1"/>
          <p:nvPr/>
        </p:nvSpPr>
        <p:spPr>
          <a:xfrm>
            <a:off x="9467386" y="901895"/>
            <a:ext cx="2542477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FOLH1 expression was significantly lower in feature-positive tumors.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Wilcoxon p &lt; 0.001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Aligns with recent publications.</a:t>
            </a:r>
            <a:endParaRPr lang="en-SE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6A6A6-F295-484D-BC15-1B7FD84725FF}"/>
              </a:ext>
            </a:extLst>
          </p:cNvPr>
          <p:cNvSpPr txBox="1"/>
          <p:nvPr/>
        </p:nvSpPr>
        <p:spPr>
          <a:xfrm>
            <a:off x="9467386" y="4247026"/>
            <a:ext cx="232296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FOLH1 expression was significantly higher in ETS fusion-positive tumors.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Wilcoxon 𝑝=0.00499.</a:t>
            </a:r>
            <a:endParaRPr lang="en-SE" sz="17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F77EA6E-6770-41B3-BB4E-A5068488CEC0}"/>
              </a:ext>
            </a:extLst>
          </p:cNvPr>
          <p:cNvSpPr txBox="1">
            <a:spLocks/>
          </p:cNvSpPr>
          <p:nvPr/>
        </p:nvSpPr>
        <p:spPr>
          <a:xfrm>
            <a:off x="757325" y="221225"/>
            <a:ext cx="4787984" cy="560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Metastases Specific Analysis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7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D7FC-013A-4F93-B3F6-CAE7089C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739"/>
            <a:ext cx="10515600" cy="1318709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for Primary and Metastatic tumors with known biomarkers of PRAD</a:t>
            </a:r>
            <a:endParaRPr lang="en-S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E8A7-7456-4BE8-BF2A-D7FF3793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10</a:t>
            </a:fld>
            <a:endParaRPr lang="en-S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97E639-B01E-45EB-BA65-0CEE3CBBC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111474"/>
              </p:ext>
            </p:extLst>
          </p:nvPr>
        </p:nvGraphicFramePr>
        <p:xfrm>
          <a:off x="620628" y="1762396"/>
          <a:ext cx="7073713" cy="436096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438598">
                  <a:extLst>
                    <a:ext uri="{9D8B030D-6E8A-4147-A177-3AD203B41FA5}">
                      <a16:colId xmlns:a16="http://schemas.microsoft.com/office/drawing/2014/main" val="2566945710"/>
                    </a:ext>
                  </a:extLst>
                </a:gridCol>
                <a:gridCol w="1524613">
                  <a:extLst>
                    <a:ext uri="{9D8B030D-6E8A-4147-A177-3AD203B41FA5}">
                      <a16:colId xmlns:a16="http://schemas.microsoft.com/office/drawing/2014/main" val="3164512214"/>
                    </a:ext>
                  </a:extLst>
                </a:gridCol>
                <a:gridCol w="2110502">
                  <a:extLst>
                    <a:ext uri="{9D8B030D-6E8A-4147-A177-3AD203B41FA5}">
                      <a16:colId xmlns:a16="http://schemas.microsoft.com/office/drawing/2014/main" val="1845699804"/>
                    </a:ext>
                  </a:extLst>
                </a:gridCol>
              </a:tblGrid>
              <a:tr h="3447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Biomarkers</a:t>
                      </a:r>
                      <a:endParaRPr lang="en-SE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1" kern="100">
                          <a:effectLst/>
                        </a:rPr>
                        <a:t>Type of biomarker</a:t>
                      </a:r>
                      <a:endParaRPr lang="en-SE" sz="1400" b="1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Gene name equivalent </a:t>
                      </a:r>
                      <a:endParaRPr lang="en-SE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874559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AURKA 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Gene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 h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374289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BRCA1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768308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BRCA2</a:t>
                      </a:r>
                      <a:endParaRPr lang="en-SE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245465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MYC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175285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TP53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887285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695325" algn="l"/>
                        </a:tabLst>
                      </a:pPr>
                      <a:r>
                        <a:rPr lang="en-GB" sz="1400" kern="100" dirty="0">
                          <a:effectLst/>
                        </a:rPr>
                        <a:t>PTEN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83532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066800" algn="l"/>
                        </a:tabLst>
                      </a:pPr>
                      <a:r>
                        <a:rPr lang="en-GB" sz="1400" kern="100" dirty="0">
                          <a:effectLst/>
                        </a:rPr>
                        <a:t>RB1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486504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066800" algn="l"/>
                        </a:tabLst>
                      </a:pPr>
                      <a:r>
                        <a:rPr lang="en-GB" sz="1400" kern="100" dirty="0">
                          <a:effectLst/>
                        </a:rPr>
                        <a:t>TTF1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56006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INSM1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73323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NKX2-1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53402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PAP</a:t>
                      </a:r>
                      <a:endParaRPr lang="en-SE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Protein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ACP3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918149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Chromogranin A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CHGA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401317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Chromogranin B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CHGB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169509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CD71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TFRC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275245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CD56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NCAM1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445954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Secretogranin II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SCG2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851566"/>
                  </a:ext>
                </a:extLst>
              </a:tr>
              <a:tr h="2362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Synaptophysin </a:t>
                      </a:r>
                      <a:r>
                        <a:rPr lang="en-GB" sz="1400" kern="100" dirty="0">
                          <a:solidFill>
                            <a:srgbClr val="FF0000"/>
                          </a:solidFill>
                          <a:effectLst/>
                        </a:rPr>
                        <a:t>(neuroendocrine)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SYP</a:t>
                      </a:r>
                      <a:endParaRPr lang="en-SE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03444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98F2B7-27F3-4CE9-AC56-37F0A6FB00F5}"/>
              </a:ext>
            </a:extLst>
          </p:cNvPr>
          <p:cNvSpPr txBox="1"/>
          <p:nvPr/>
        </p:nvSpPr>
        <p:spPr>
          <a:xfrm>
            <a:off x="8253663" y="2551837"/>
            <a:ext cx="345707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Well established prostate cancer biomarkers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New emerging prospective biomarkers from recent publications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Neuroendocrine biomarkers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207878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D7FC-013A-4F93-B3F6-CAE7089C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80" y="312161"/>
            <a:ext cx="5712552" cy="95358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for Primary tumors with known biomarkers of PRAD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E8A7-7456-4BE8-BF2A-D7FF3793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11</a:t>
            </a:fld>
            <a:endParaRPr lang="en-S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77B724-BC1F-4DB3-AE27-ECD4F0E29AC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80" y="1775909"/>
            <a:ext cx="5852920" cy="4580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EFE8E9-4835-42BB-B0A3-440AEA6D8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032" y="190497"/>
            <a:ext cx="2501270" cy="2044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F77CA5-A9F9-4457-BA74-49EF1FB9D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032" y="2425401"/>
            <a:ext cx="2501270" cy="20843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3B3750-F626-459D-BF82-182C71BD63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032" y="4637084"/>
            <a:ext cx="2501270" cy="20843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DB97B3-407A-44E0-89A7-71493A5DC117}"/>
              </a:ext>
            </a:extLst>
          </p:cNvPr>
          <p:cNvSpPr txBox="1"/>
          <p:nvPr/>
        </p:nvSpPr>
        <p:spPr>
          <a:xfrm>
            <a:off x="5779170" y="3179135"/>
            <a:ext cx="27432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CD56, RB1 and Synaptophysin showed statistically significant Correlation with FOLH1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2852259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D7FC-013A-4F93-B3F6-CAE7089C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38" y="228599"/>
            <a:ext cx="5503655" cy="131870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for Metastatic tumors with known biomarkers of PRAD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E8A7-7456-4BE8-BF2A-D7FF3793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12</a:t>
            </a:fld>
            <a:endParaRPr lang="en-S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E60A24-4E44-4A9E-8D46-B2A0215443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34" y="1547308"/>
            <a:ext cx="6066960" cy="4809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255F88-B0FD-48B3-BF3B-370795792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435" y="228598"/>
            <a:ext cx="2372217" cy="19768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4F1637-18CC-420F-A6B5-840A58A1C8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032" y="228598"/>
            <a:ext cx="2310065" cy="19250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C7E270-4585-4A03-9EA4-78B9D3FB6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435" y="2340404"/>
            <a:ext cx="2372218" cy="19768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B8304E-A0FC-4F09-A2D0-6F272F4388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316" y="2278152"/>
            <a:ext cx="2467934" cy="20566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383B5A4-5FCD-4ECA-9E60-58AE0F407799}"/>
              </a:ext>
            </a:extLst>
          </p:cNvPr>
          <p:cNvSpPr txBox="1"/>
          <p:nvPr/>
        </p:nvSpPr>
        <p:spPr>
          <a:xfrm>
            <a:off x="6978316" y="4977431"/>
            <a:ext cx="489895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CD56, Chromogranin B, RB1 and NKX2-1 </a:t>
            </a:r>
            <a:r>
              <a:rPr lang="en-US" sz="1700" dirty="0"/>
              <a:t>showed statistically significant Correlation with FOLH1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388712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1387-B3DA-405B-AA9C-28583044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445" y="179212"/>
            <a:ext cx="9287107" cy="70539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Biomarkers with DFS separation in Primary Tumor </a:t>
            </a:r>
            <a:endParaRPr lang="en-S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44DE1-BEC0-45FE-B1BC-0233CEEA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13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C2B39-0B6A-4439-BC34-8F96A67C18E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48" y="1272518"/>
            <a:ext cx="3297791" cy="303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F270A5-8E21-4C2C-A089-A1E9ABBBEAD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927" y="1331610"/>
            <a:ext cx="3297792" cy="3109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5C292-EF48-499B-9441-8B220DBB101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847" y="1331610"/>
            <a:ext cx="3142953" cy="310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6CC1D2-1326-4D7D-BB57-3AD1FE331546}"/>
              </a:ext>
            </a:extLst>
          </p:cNvPr>
          <p:cNvSpPr txBox="1"/>
          <p:nvPr/>
        </p:nvSpPr>
        <p:spPr>
          <a:xfrm>
            <a:off x="2066693" y="4888377"/>
            <a:ext cx="9287107" cy="1229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ACP3</a:t>
            </a:r>
            <a:r>
              <a:rPr lang="en-US" sz="1700" dirty="0"/>
              <a:t>, </a:t>
            </a:r>
            <a:r>
              <a:rPr lang="en-US" sz="1700" b="1" dirty="0"/>
              <a:t>AURKA</a:t>
            </a:r>
            <a:r>
              <a:rPr lang="en-US" sz="1700" dirty="0"/>
              <a:t> and </a:t>
            </a:r>
            <a:r>
              <a:rPr lang="en-US" sz="1700" b="1" dirty="0"/>
              <a:t>NCAM1</a:t>
            </a:r>
            <a:r>
              <a:rPr lang="en-US" sz="1700" dirty="0"/>
              <a:t> showed significant DFS separation.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AURKA displayed the strongest association. high expression -&gt;  shorter DFS.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NCAM1</a:t>
            </a:r>
            <a:r>
              <a:rPr lang="en-US" sz="1700" dirty="0"/>
              <a:t> was the only neuroendocrine marker from the list that showed DFS separation.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3951943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1387-B3DA-405B-AA9C-28583044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71" y="136525"/>
            <a:ext cx="9699702" cy="78345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Biomarkers With DFS Separation in Metastatic Tumor 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44DE1-BEC0-45FE-B1BC-0233CEEA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14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D4F525-644A-499E-B6FB-030721F37FF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24" y="1250291"/>
            <a:ext cx="3263010" cy="233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FF3DA-A693-4AF4-BFB4-C783E5BEA22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616" y="1250291"/>
            <a:ext cx="3263010" cy="2463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2E7782-F9B7-407A-B2FE-882EF3F92A6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385" y="1250291"/>
            <a:ext cx="3263010" cy="248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1EA997-5086-49B6-BF73-C49CB447BE21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275" y="3870905"/>
            <a:ext cx="3417615" cy="24854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316A86-F7A0-4B2C-91CF-CFBCE04D17B6}"/>
              </a:ext>
            </a:extLst>
          </p:cNvPr>
          <p:cNvSpPr txBox="1"/>
          <p:nvPr/>
        </p:nvSpPr>
        <p:spPr>
          <a:xfrm>
            <a:off x="614071" y="4289218"/>
            <a:ext cx="692131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AURKA, CHGA, TFRC and MKI67 showed significant DFS separation in metastatic tumors of the SU2C cohort.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Again, AURKA displayed the strongest association, with high expression linked to shorter disease-free survival.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Chromogranin A was the only neuroendocrine marker from the list that showed DFS separation in metastases.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4223468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6826-6BD4-40A4-B888-D92ADD53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897" y="148953"/>
            <a:ext cx="9320561" cy="70539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FOLH1 correlation with MCP-Counter Scores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04F59-2A1B-4A08-9AE7-260D3BB4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15</a:t>
            </a:fld>
            <a:endParaRPr lang="en-SE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6BC073-CD66-453A-B866-7DE8601729F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49" y="1099027"/>
            <a:ext cx="5650377" cy="411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B5563-0B1B-4996-B023-56AA6612ABD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670" y="1099027"/>
            <a:ext cx="5733481" cy="422714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F0F649-FC1F-4EC1-B764-B8F46FFD3FDF}"/>
              </a:ext>
            </a:extLst>
          </p:cNvPr>
          <p:cNvSpPr txBox="1"/>
          <p:nvPr/>
        </p:nvSpPr>
        <p:spPr>
          <a:xfrm>
            <a:off x="4239136" y="1071284"/>
            <a:ext cx="203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Primary tumors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BCCEE-2308-4747-81D6-8B8AA4CC4AAD}"/>
              </a:ext>
            </a:extLst>
          </p:cNvPr>
          <p:cNvSpPr txBox="1"/>
          <p:nvPr/>
        </p:nvSpPr>
        <p:spPr>
          <a:xfrm>
            <a:off x="10929102" y="937225"/>
            <a:ext cx="1262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Metastatic tumors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2E60F-F308-483D-B1AD-2BDDB76F1125}"/>
              </a:ext>
            </a:extLst>
          </p:cNvPr>
          <p:cNvSpPr txBox="1"/>
          <p:nvPr/>
        </p:nvSpPr>
        <p:spPr>
          <a:xfrm>
            <a:off x="1918010" y="5607298"/>
            <a:ext cx="151277" cy="111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F17E8-0C99-4F0B-A4DF-E9F2CFE64727}"/>
              </a:ext>
            </a:extLst>
          </p:cNvPr>
          <p:cNvSpPr txBox="1"/>
          <p:nvPr/>
        </p:nvSpPr>
        <p:spPr>
          <a:xfrm>
            <a:off x="1203231" y="5715267"/>
            <a:ext cx="1048195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/>
              <a:t>Primary tumors showed mainly negative correlations, whereas metastatic tumors showed positive associations with </a:t>
            </a:r>
            <a:r>
              <a:rPr lang="en-US" sz="1700" b="1" dirty="0"/>
              <a:t>monocytes</a:t>
            </a:r>
            <a:r>
              <a:rPr lang="en-US" sz="1700" dirty="0"/>
              <a:t>, </a:t>
            </a:r>
            <a:r>
              <a:rPr lang="en-US" sz="1700" b="1" dirty="0"/>
              <a:t>neutrophils</a:t>
            </a:r>
            <a:r>
              <a:rPr lang="en-US" sz="1700" dirty="0"/>
              <a:t> and </a:t>
            </a:r>
            <a:r>
              <a:rPr lang="en-US" sz="1700" b="1" dirty="0"/>
              <a:t>B-lineage</a:t>
            </a:r>
            <a:r>
              <a:rPr lang="en-US" sz="1700" dirty="0"/>
              <a:t> </a:t>
            </a:r>
            <a:r>
              <a:rPr lang="en-US" sz="1700" b="1" dirty="0"/>
              <a:t>cells</a:t>
            </a:r>
            <a:r>
              <a:rPr lang="en-US" sz="1700" dirty="0"/>
              <a:t>. T-cell scores were </a:t>
            </a:r>
            <a:r>
              <a:rPr lang="en-US" sz="1700" b="1" dirty="0"/>
              <a:t>negatively</a:t>
            </a:r>
            <a:r>
              <a:rPr lang="en-US" sz="1700" dirty="0"/>
              <a:t> associated with FOLH1 in both settings.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437706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6826-6BD4-40A4-B888-D92ADD53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41" y="182898"/>
            <a:ext cx="11757858" cy="705392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Pathway Activity Associated with FOLH1 Expression in TCGA PRAD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04F59-2A1B-4A08-9AE7-260D3BB4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16</a:t>
            </a:fld>
            <a:endParaRPr lang="en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2E60F-F308-483D-B1AD-2BDDB76F1125}"/>
              </a:ext>
            </a:extLst>
          </p:cNvPr>
          <p:cNvSpPr txBox="1"/>
          <p:nvPr/>
        </p:nvSpPr>
        <p:spPr>
          <a:xfrm>
            <a:off x="1918010" y="5607298"/>
            <a:ext cx="151277" cy="111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F17E8-0C99-4F0B-A4DF-E9F2CFE64727}"/>
              </a:ext>
            </a:extLst>
          </p:cNvPr>
          <p:cNvSpPr txBox="1"/>
          <p:nvPr/>
        </p:nvSpPr>
        <p:spPr>
          <a:xfrm>
            <a:off x="858050" y="1826567"/>
            <a:ext cx="4096722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dirty="0">
                <a:ea typeface="Aptos"/>
              </a:rPr>
              <a:t>M</a:t>
            </a:r>
            <a:r>
              <a:rPr lang="en-GB" sz="1700" dirty="0">
                <a:effectLst/>
                <a:ea typeface="Aptos"/>
              </a:rPr>
              <a:t>edian FOLH1 expression: High and Low</a:t>
            </a:r>
          </a:p>
          <a:p>
            <a:endParaRPr lang="en-GB" sz="1700" dirty="0">
              <a:effectLst/>
              <a:ea typeface="Aptos"/>
            </a:endParaRPr>
          </a:p>
          <a:p>
            <a:r>
              <a:rPr lang="en-US" sz="1700" dirty="0"/>
              <a:t>GSVA used to compute immune pathway activity per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r>
              <a:rPr lang="en-US" sz="1700" dirty="0"/>
              <a:t>FOLH1-high tumors exhibited significantly lower activity of several immune-related pathways, including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T-cell activation,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cytotoxicity,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checkpoint signaling,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complement,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inflammatory signaling.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E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B13DDE-5D41-4873-A00F-EDC7541DFE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154" y="1311673"/>
            <a:ext cx="6006892" cy="50446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2299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5889608-5A37-4789-8488-5F2B31113344}"/>
              </a:ext>
            </a:extLst>
          </p:cNvPr>
          <p:cNvSpPr/>
          <p:nvPr/>
        </p:nvSpPr>
        <p:spPr>
          <a:xfrm>
            <a:off x="2920706" y="1609344"/>
            <a:ext cx="6350588" cy="3458551"/>
          </a:xfrm>
          <a:prstGeom prst="ellipse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B86F1-BC42-4732-916B-09FBFACB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837" y="178727"/>
            <a:ext cx="8688324" cy="829056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for PRAD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2A509-6378-419F-9AF7-17764BBB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17</a:t>
            </a:fld>
            <a:endParaRPr lang="en-S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4923D-1201-4CAA-95EE-C26120E4D20D}"/>
              </a:ext>
            </a:extLst>
          </p:cNvPr>
          <p:cNvSpPr txBox="1"/>
          <p:nvPr/>
        </p:nvSpPr>
        <p:spPr>
          <a:xfrm>
            <a:off x="4500210" y="2056562"/>
            <a:ext cx="319157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 dirty="0"/>
              <a:t>FOLH1- Prostate adenocarcinoma</a:t>
            </a:r>
            <a:endParaRPr lang="en-SE" sz="17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1FDDD-A9C9-43FD-995B-217CEBD5DFD2}"/>
              </a:ext>
            </a:extLst>
          </p:cNvPr>
          <p:cNvSpPr txBox="1"/>
          <p:nvPr/>
        </p:nvSpPr>
        <p:spPr>
          <a:xfrm>
            <a:off x="3934327" y="2729114"/>
            <a:ext cx="4880489" cy="1403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Highly enriched in PRAD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Associated with disease features, metastatic site, and neuroendocrine-related markers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Linked to reduced immune pathway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Not a significant standalone DFS marker</a:t>
            </a:r>
            <a:endParaRPr lang="en-SE" sz="1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DB36C-F6A6-49B0-9BB3-2F4C0121CF5B}"/>
              </a:ext>
            </a:extLst>
          </p:cNvPr>
          <p:cNvSpPr txBox="1"/>
          <p:nvPr/>
        </p:nvSpPr>
        <p:spPr>
          <a:xfrm>
            <a:off x="1613554" y="5207791"/>
            <a:ext cx="8964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b="1" dirty="0"/>
              <a:t>Limitations</a:t>
            </a:r>
            <a:r>
              <a:rPr lang="en-US" dirty="0"/>
              <a:t>: retrospective cohorts, heterogeneous datasets, multiple testing, and limited experimental sample sizes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16868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B1B3-C432-4F0F-A6AA-08578F61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663" y="2766218"/>
            <a:ext cx="7114674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Pancreatic Adenocarcinoma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(PAAD)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FA372-1A96-4014-A210-805ED6DB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18449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93FE54-12D6-43FB-861E-42CACBCA6242}"/>
              </a:ext>
            </a:extLst>
          </p:cNvPr>
          <p:cNvSpPr/>
          <p:nvPr/>
        </p:nvSpPr>
        <p:spPr>
          <a:xfrm>
            <a:off x="1258278" y="1584912"/>
            <a:ext cx="5189765" cy="1370939"/>
          </a:xfrm>
          <a:prstGeom prst="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96945-37E0-44ED-AF55-AE5BDC14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19" y="337824"/>
            <a:ext cx="2786743" cy="83820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BA36E-AB04-4BF5-9F71-07D98E0C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19" y="1760018"/>
            <a:ext cx="6411685" cy="547551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cs typeface="Times New Roman" panose="02020603050405020304" pitchFamily="18" charset="0"/>
              </a:rPr>
              <a:t>	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en-US" sz="1700" b="1" dirty="0">
                <a:cs typeface="Times New Roman" panose="02020603050405020304" pitchFamily="18" charset="0"/>
              </a:rPr>
              <a:t>Pancreatic cancer</a:t>
            </a:r>
            <a:r>
              <a:rPr lang="en-US" sz="1700" dirty="0">
                <a:cs typeface="Times New Roman" panose="02020603050405020304" pitchFamily="18" charset="0"/>
              </a:rPr>
              <a:t>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cs typeface="Times New Roman" panose="02020603050405020304" pitchFamily="18" charset="0"/>
              </a:rPr>
              <a:t>	12th most commonly diagnosed cancer </a:t>
            </a:r>
            <a:br>
              <a:rPr lang="en-US" sz="1700" dirty="0">
                <a:cs typeface="Times New Roman" panose="02020603050405020304" pitchFamily="18" charset="0"/>
              </a:rPr>
            </a:br>
            <a:r>
              <a:rPr lang="en-US" sz="1700" dirty="0">
                <a:cs typeface="Times New Roman" panose="02020603050405020304" pitchFamily="18" charset="0"/>
              </a:rPr>
              <a:t>	6th leading cause of cancer death worldwide.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cs typeface="Times New Roman" panose="02020603050405020304" pitchFamily="18" charset="0"/>
              </a:rPr>
              <a:t>PIP5K1A: 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Lipid kinase that produces PIP2, a key membrane-signaling molecule.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Functions upstream of the PI3K–AKT pathway, which regulates tumor-cell growth, survival and metabolism.</a:t>
            </a:r>
          </a:p>
          <a:p>
            <a:pPr>
              <a:lnSpc>
                <a:spcPct val="100000"/>
              </a:lnSpc>
            </a:pPr>
            <a:r>
              <a:rPr lang="en-US" sz="1700" dirty="0">
                <a:cs typeface="Times New Roman" panose="02020603050405020304" pitchFamily="18" charset="0"/>
              </a:rPr>
              <a:t>Interacts with oncogenic KRAS signaling and may support proliferation in KRAS-driven pancreatic cancer.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363B49-44FE-4F86-9A12-30DF4E46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19</a:t>
            </a:fld>
            <a:endParaRPr lang="en-S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C3CC88-7F3D-42E1-A6FB-BB2BF0E3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092" y="337824"/>
            <a:ext cx="2854589" cy="50688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249C72-2526-456F-A473-7908C5CD22BB}"/>
              </a:ext>
            </a:extLst>
          </p:cNvPr>
          <p:cNvSpPr txBox="1"/>
          <p:nvPr/>
        </p:nvSpPr>
        <p:spPr>
          <a:xfrm>
            <a:off x="8257954" y="5750735"/>
            <a:ext cx="39340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Figure: Amos, S-BTA &amp; Kalli,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Antreas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&amp; Shi,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Jiye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&amp; Sansom, MSP. (2019). Membrane Recognition and Binding by the Phosphatidylinositol Phosphate Kinase PIP5K1A: A Multiscale Simulation Study. Structure. 27. 10.1016/j.str.2019.05.004 </a:t>
            </a:r>
            <a:endParaRPr lang="en-SE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126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FF43-0653-4A26-BC84-EA474900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04" y="136526"/>
            <a:ext cx="11519896" cy="85625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PIP5K1A correlation with immune infiltrates in Pancreatic Adenocarcinoma 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7ABD-FB96-46E5-97F4-14D6424D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20</a:t>
            </a:fld>
            <a:endParaRPr lang="en-S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ABA96F-F5DE-476D-AA05-C3BE5449D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6" y="862149"/>
            <a:ext cx="11434354" cy="24199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01406C-AD34-46B1-BB75-71760F2E1DD1}"/>
              </a:ext>
            </a:extLst>
          </p:cNvPr>
          <p:cNvSpPr txBox="1"/>
          <p:nvPr/>
        </p:nvSpPr>
        <p:spPr>
          <a:xfrm>
            <a:off x="3705225" y="3575926"/>
            <a:ext cx="614362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done on TIMER3 webtool by compbio.</a:t>
            </a:r>
          </a:p>
          <a:p>
            <a:endParaRPr lang="en-GB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Following Immune Infiltrate groups showed statistically significant correlation with PIP5K1A expression levels: </a:t>
            </a:r>
          </a:p>
          <a:p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lymphoid progenitors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interferon gamma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myeloid derived suppressor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tumour CD274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endothelial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cancer associated fibroblasts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1738271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FF43-0653-4A26-BC84-EA474900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04" y="390524"/>
            <a:ext cx="11205571" cy="60225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PFS Study of PIP5K1A Expression with Immune Infiltrates in TCGA-PAAD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7ABD-FB96-46E5-97F4-14D6424D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21</a:t>
            </a:fld>
            <a:endParaRPr lang="en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1406C-AD34-46B1-BB75-71760F2E1DD1}"/>
              </a:ext>
            </a:extLst>
          </p:cNvPr>
          <p:cNvSpPr txBox="1"/>
          <p:nvPr/>
        </p:nvSpPr>
        <p:spPr>
          <a:xfrm>
            <a:off x="809626" y="1651876"/>
            <a:ext cx="53530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Progression Free Survival (PFS) study was also done on TIMER3 webtool by compbio. </a:t>
            </a:r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Groups created: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PIP5K1A expression + low immune infiltrate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PIP5K1A expression </a:t>
            </a: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high immune infiltrate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PIP5K1A </a:t>
            </a:r>
            <a:r>
              <a:rPr lang="en-GB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expression + low immune infiltrate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PIP5K1A expression + high immune infiltrate</a:t>
            </a:r>
          </a:p>
          <a:p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Median cut-off used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9A94D-D911-492D-ACCE-D235338310DF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8"/>
          <a:stretch/>
        </p:blipFill>
        <p:spPr bwMode="auto">
          <a:xfrm>
            <a:off x="7851683" y="992777"/>
            <a:ext cx="3797391" cy="2817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6F9743-26A4-4A9F-AFC5-ED74D2C6A1B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3"/>
          <a:stretch/>
        </p:blipFill>
        <p:spPr bwMode="auto">
          <a:xfrm>
            <a:off x="7851683" y="3715521"/>
            <a:ext cx="3841931" cy="31424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16CBA6-0611-4021-848D-5FD9604882F4}"/>
              </a:ext>
            </a:extLst>
          </p:cNvPr>
          <p:cNvSpPr txBox="1"/>
          <p:nvPr/>
        </p:nvSpPr>
        <p:spPr>
          <a:xfrm>
            <a:off x="763543" y="4924159"/>
            <a:ext cx="5686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groups showed statistically significant increased risk: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High PIP5K1A </a:t>
            </a:r>
            <a:r>
              <a:rPr lang="en-US" dirty="0"/>
              <a:t>+ High CD274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PIP5K1A +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High common lymphoid progenitor </a:t>
            </a:r>
          </a:p>
        </p:txBody>
      </p:sp>
    </p:spTree>
    <p:extLst>
      <p:ext uri="{BB962C8B-B14F-4D97-AF65-F5344CB8AC3E}">
        <p14:creationId xmlns:p14="http://schemas.microsoft.com/office/powerpoint/2010/main" val="1638336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FF43-0653-4A26-BC84-EA474900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04" y="390524"/>
            <a:ext cx="11205571" cy="602253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PIP5K1A association with DFS in classical-like and basal-like subtypes of PAAD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7ABD-FB96-46E5-97F4-14D6424D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22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63C09-31C7-4567-927B-36C210B21CD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736" y="1467514"/>
            <a:ext cx="3544510" cy="3040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F6509E-AAD8-4F4B-BDE5-83164C6FDF1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149" y="1467514"/>
            <a:ext cx="3544510" cy="30406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EAD58A-CA9A-4339-91C9-27ADB613C500}"/>
              </a:ext>
            </a:extLst>
          </p:cNvPr>
          <p:cNvSpPr txBox="1"/>
          <p:nvPr/>
        </p:nvSpPr>
        <p:spPr>
          <a:xfrm>
            <a:off x="2615609" y="5100439"/>
            <a:ext cx="6960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differences were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Neither subtype comparison was statistically significant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support a prognostic effect of PIP5K1A on DFS in this cohort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826379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9945-C8B4-4810-A207-DE220E81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Mouse Models with Pancreatic Adenocarcinoma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5D23A-6C2B-4E9D-910F-33CAA806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11703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A2C8DE-8C0D-426B-A87F-9111AD16478B}"/>
              </a:ext>
            </a:extLst>
          </p:cNvPr>
          <p:cNvSpPr/>
          <p:nvPr/>
        </p:nvSpPr>
        <p:spPr>
          <a:xfrm>
            <a:off x="8116745" y="2020338"/>
            <a:ext cx="3626057" cy="2304207"/>
          </a:xfrm>
          <a:prstGeom prst="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0819E2-7B2D-42EE-B218-2B0AD2A36AA6}"/>
              </a:ext>
            </a:extLst>
          </p:cNvPr>
          <p:cNvSpPr/>
          <p:nvPr/>
        </p:nvSpPr>
        <p:spPr>
          <a:xfrm>
            <a:off x="1944046" y="6030519"/>
            <a:ext cx="2233688" cy="52197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BEC305-465E-4B49-9C86-59197D4828D0}"/>
              </a:ext>
            </a:extLst>
          </p:cNvPr>
          <p:cNvSpPr/>
          <p:nvPr/>
        </p:nvSpPr>
        <p:spPr>
          <a:xfrm>
            <a:off x="4660237" y="3904164"/>
            <a:ext cx="2709781" cy="8407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ECBE599-7C94-417B-8ECE-C09089E657D9}"/>
              </a:ext>
            </a:extLst>
          </p:cNvPr>
          <p:cNvSpPr/>
          <p:nvPr/>
        </p:nvSpPr>
        <p:spPr>
          <a:xfrm>
            <a:off x="140134" y="1085704"/>
            <a:ext cx="2390316" cy="69474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AFCEF-E499-4C15-9AD5-0BFC603F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979" y="290137"/>
            <a:ext cx="4098475" cy="64187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RNA-Seq Workflow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B782E-9A29-4EE7-A082-90CFF574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24</a:t>
            </a:fld>
            <a:endParaRPr lang="en-S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CD669-0B59-4706-B037-E287BEC86913}"/>
              </a:ext>
            </a:extLst>
          </p:cNvPr>
          <p:cNvSpPr txBox="1"/>
          <p:nvPr/>
        </p:nvSpPr>
        <p:spPr>
          <a:xfrm>
            <a:off x="577287" y="1688967"/>
            <a:ext cx="50195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paired collections in Galaxy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Quality control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Trimming tool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RNA-STAR alignment Tool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BAM files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FeatureCounts Tool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Column join tool to create matrix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Tabular count files</a:t>
            </a:r>
            <a:endParaRPr lang="en-S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FB04BB-9D6D-4103-8041-68F1E16806D3}"/>
              </a:ext>
            </a:extLst>
          </p:cNvPr>
          <p:cNvCxnSpPr>
            <a:cxnSpLocks/>
          </p:cNvCxnSpPr>
          <p:nvPr/>
        </p:nvCxnSpPr>
        <p:spPr>
          <a:xfrm>
            <a:off x="2597202" y="1439216"/>
            <a:ext cx="489862" cy="426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8CA781-3036-4497-9901-67537B0AEECB}"/>
              </a:ext>
            </a:extLst>
          </p:cNvPr>
          <p:cNvCxnSpPr/>
          <p:nvPr/>
        </p:nvCxnSpPr>
        <p:spPr>
          <a:xfrm>
            <a:off x="3097191" y="2316866"/>
            <a:ext cx="0" cy="19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A40EE0-7F4B-49D6-8D4A-B627C5232D55}"/>
              </a:ext>
            </a:extLst>
          </p:cNvPr>
          <p:cNvCxnSpPr/>
          <p:nvPr/>
        </p:nvCxnSpPr>
        <p:spPr>
          <a:xfrm>
            <a:off x="3107318" y="2874380"/>
            <a:ext cx="0" cy="19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F7DE36-3E5B-4516-9FDB-6D5EF5CA5361}"/>
              </a:ext>
            </a:extLst>
          </p:cNvPr>
          <p:cNvCxnSpPr/>
          <p:nvPr/>
        </p:nvCxnSpPr>
        <p:spPr>
          <a:xfrm>
            <a:off x="3107318" y="3365340"/>
            <a:ext cx="0" cy="19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BA144E-92A3-4776-B00C-659A0E391242}"/>
              </a:ext>
            </a:extLst>
          </p:cNvPr>
          <p:cNvCxnSpPr/>
          <p:nvPr/>
        </p:nvCxnSpPr>
        <p:spPr>
          <a:xfrm>
            <a:off x="3107318" y="3943110"/>
            <a:ext cx="0" cy="19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646518-3ED1-48FE-828B-7D0C33B58E52}"/>
              </a:ext>
            </a:extLst>
          </p:cNvPr>
          <p:cNvCxnSpPr/>
          <p:nvPr/>
        </p:nvCxnSpPr>
        <p:spPr>
          <a:xfrm>
            <a:off x="3107318" y="4477474"/>
            <a:ext cx="0" cy="19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26A632-1719-4C39-B33E-AFAA35185777}"/>
              </a:ext>
            </a:extLst>
          </p:cNvPr>
          <p:cNvCxnSpPr/>
          <p:nvPr/>
        </p:nvCxnSpPr>
        <p:spPr>
          <a:xfrm>
            <a:off x="3087064" y="5104437"/>
            <a:ext cx="0" cy="19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CFD0DD-7079-4F53-8770-AC7FF7ED1AC9}"/>
              </a:ext>
            </a:extLst>
          </p:cNvPr>
          <p:cNvCxnSpPr>
            <a:cxnSpLocks/>
          </p:cNvCxnSpPr>
          <p:nvPr/>
        </p:nvCxnSpPr>
        <p:spPr>
          <a:xfrm>
            <a:off x="3087064" y="5569353"/>
            <a:ext cx="0" cy="57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182EF5-8C4E-424D-B851-4CAFB5DEC0B8}"/>
              </a:ext>
            </a:extLst>
          </p:cNvPr>
          <p:cNvSpPr txBox="1"/>
          <p:nvPr/>
        </p:nvSpPr>
        <p:spPr>
          <a:xfrm>
            <a:off x="8450498" y="2156778"/>
            <a:ext cx="30634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Experimental Designs</a:t>
            </a:r>
          </a:p>
          <a:p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Original tumor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PINK1-OE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MTK treatment</a:t>
            </a:r>
            <a:br>
              <a:rPr lang="en-US" dirty="0"/>
            </a:br>
            <a:r>
              <a:rPr lang="en-US" dirty="0"/>
              <a:t>MTK treatment (two flanks)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ISA treatment</a:t>
            </a:r>
            <a:endParaRPr lang="en-SE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AE404AE-BD10-4D4B-97FA-C3AA1F60E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90" y="349018"/>
            <a:ext cx="2221976" cy="5207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0F0FC8-2B24-412F-ACE3-706764EF8798}"/>
              </a:ext>
            </a:extLst>
          </p:cNvPr>
          <p:cNvSpPr txBox="1"/>
          <p:nvPr/>
        </p:nvSpPr>
        <p:spPr>
          <a:xfrm>
            <a:off x="4683513" y="4139880"/>
            <a:ext cx="2663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GTF mouse annotation file</a:t>
            </a:r>
            <a:endParaRPr lang="en-SE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ECC9C1-BAEE-4381-9334-97E93A86CDA8}"/>
              </a:ext>
            </a:extLst>
          </p:cNvPr>
          <p:cNvCxnSpPr>
            <a:cxnSpLocks/>
          </p:cNvCxnSpPr>
          <p:nvPr/>
        </p:nvCxnSpPr>
        <p:spPr>
          <a:xfrm flipH="1">
            <a:off x="3179433" y="4393111"/>
            <a:ext cx="1443095" cy="182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95211F6-9A57-486D-A5F0-C479EA91C76F}"/>
              </a:ext>
            </a:extLst>
          </p:cNvPr>
          <p:cNvSpPr txBox="1"/>
          <p:nvPr/>
        </p:nvSpPr>
        <p:spPr>
          <a:xfrm>
            <a:off x="218447" y="1219009"/>
            <a:ext cx="2233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paired-end reads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75815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AD60-2844-4A6E-A66C-0087D036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22" y="156831"/>
            <a:ext cx="10446487" cy="87888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Clustering of Sample Groups Across Treatment Collections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645F6-202B-4A30-94F1-2A1AACF7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25</a:t>
            </a:fld>
            <a:endParaRPr lang="en-S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4539F1-D716-4F5D-91DB-BCB0CDF65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22" y="1376827"/>
            <a:ext cx="3683546" cy="3157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C689AE-D674-4C5F-B45F-872403288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04" y="1369263"/>
            <a:ext cx="3651795" cy="3164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CB9670-6FAD-48E8-958F-5900214262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301" y="1417112"/>
            <a:ext cx="3651796" cy="31648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161D1D-4A02-493E-86A0-0A84A39A77C4}"/>
              </a:ext>
            </a:extLst>
          </p:cNvPr>
          <p:cNvSpPr txBox="1"/>
          <p:nvPr/>
        </p:nvSpPr>
        <p:spPr>
          <a:xfrm>
            <a:off x="490864" y="5061096"/>
            <a:ext cx="368354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KO samples clustering more closely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WT samples are more dispersed: greater within-group variability</a:t>
            </a:r>
            <a:endParaRPr lang="en-SE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37CE94-662F-46B5-8847-0230BA5F608D}"/>
              </a:ext>
            </a:extLst>
          </p:cNvPr>
          <p:cNvSpPr txBox="1"/>
          <p:nvPr/>
        </p:nvSpPr>
        <p:spPr>
          <a:xfrm>
            <a:off x="4284921" y="5029197"/>
            <a:ext cx="378592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WT samples show separation based on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KO samples cluster together regardless of treatment condition.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Sample separate mainly on genotype</a:t>
            </a:r>
            <a:endParaRPr lang="en-SE" sz="1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65AB3E-A0AA-4371-9950-AB1E3B19380A}"/>
              </a:ext>
            </a:extLst>
          </p:cNvPr>
          <p:cNvSpPr txBox="1"/>
          <p:nvPr/>
        </p:nvSpPr>
        <p:spPr>
          <a:xfrm>
            <a:off x="8140426" y="5029197"/>
            <a:ext cx="368354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Samples separate mainly based on genotype.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In both genotypes, treatment effect does not seem to affect the within group variance.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1271455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AD60-2844-4A6E-A66C-0087D036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91" y="79728"/>
            <a:ext cx="9602561" cy="7602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Tumor: Differential Expression Analysis, WT v KO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645F6-202B-4A30-94F1-2A1AACF7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26</a:t>
            </a:fld>
            <a:endParaRPr lang="en-S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32C500-5078-4FAF-ACE3-F40CBA1F5E4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99" y="935681"/>
            <a:ext cx="5004088" cy="5842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A590A-47BC-4CB3-9C80-B1F8CB2507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496" y="851062"/>
            <a:ext cx="2041594" cy="17665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C54772-19D5-4919-9C44-84802AB85C9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815" y="862167"/>
            <a:ext cx="2468449" cy="17442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C2B562-FFDF-423D-A85C-083B8843058C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79221"/>
            <a:ext cx="2136141" cy="1878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3F3772-526A-4001-8246-386F9291C924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271" y="2779221"/>
            <a:ext cx="2468449" cy="18709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FD011-FB43-4CD8-8CCE-7235859EA4EB}"/>
              </a:ext>
            </a:extLst>
          </p:cNvPr>
          <p:cNvSpPr txBox="1"/>
          <p:nvPr/>
        </p:nvSpPr>
        <p:spPr>
          <a:xfrm>
            <a:off x="5793664" y="4879021"/>
            <a:ext cx="6177516" cy="162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Heatmap shows clear separation between WT and KO samples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FOLH1, RB1 </a:t>
            </a:r>
            <a:r>
              <a:rPr lang="en-US" sz="1700" dirty="0"/>
              <a:t>and</a:t>
            </a:r>
            <a:r>
              <a:rPr lang="en-US" sz="1700" b="1" dirty="0"/>
              <a:t> TTF1 </a:t>
            </a:r>
            <a:r>
              <a:rPr lang="en-US" sz="1700" dirty="0"/>
              <a:t>were lower in KO tumors, whereas </a:t>
            </a:r>
            <a:r>
              <a:rPr lang="en-US" sz="1700" b="1" dirty="0"/>
              <a:t>MYC </a:t>
            </a:r>
            <a:r>
              <a:rPr lang="en-US" sz="1700" dirty="0"/>
              <a:t>was higher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Changes in genes related to tumor identity and proliferation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3085909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1618-3C2F-4723-9C32-7C459C3A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61" y="274506"/>
            <a:ext cx="4573772" cy="62370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Pathway Enrichment Analysis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C82D-D8A0-406E-A6CC-146ACC13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27</a:t>
            </a:fld>
            <a:endParaRPr lang="en-S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41BEA0-B834-40EA-AE8E-AC424ED4212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5" t="6238" r="13081" b="6015"/>
          <a:stretch/>
        </p:blipFill>
        <p:spPr>
          <a:xfrm>
            <a:off x="3381154" y="1222745"/>
            <a:ext cx="5750620" cy="4635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304C4B-3C14-4816-A981-7C8C96E44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203" y="274506"/>
            <a:ext cx="2457750" cy="1843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962C34-9DD1-4D1A-B898-E3026D204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762" y="2262610"/>
            <a:ext cx="2632632" cy="1974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F8FBA8-A75D-4BA0-9391-47E27FF96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644" y="4484999"/>
            <a:ext cx="2457750" cy="1843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D9C814-9141-4950-82B8-1F57934F0F0C}"/>
              </a:ext>
            </a:extLst>
          </p:cNvPr>
          <p:cNvSpPr txBox="1"/>
          <p:nvPr/>
        </p:nvSpPr>
        <p:spPr>
          <a:xfrm>
            <a:off x="341652" y="2303015"/>
            <a:ext cx="263263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Results were combined from the following pathway analysis 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Go BP Over Representative Analysis (ORA)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GSEA HALLMARK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GSEA ImmuneSigDB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3651923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4D0F-BA5B-4122-A9C7-414645E7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75" y="308516"/>
            <a:ext cx="10515600" cy="109526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of PRAD Biomarkers with FOLH1 in original tumor mouse models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4F964-EA07-434F-B8DA-6930E733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28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37647-A261-4136-8D5B-D721C961B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84" y="1403782"/>
            <a:ext cx="4186215" cy="33489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A757FF-0CEC-485B-81AE-ECDB60AE2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376" y="1403782"/>
            <a:ext cx="4186216" cy="3348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7AAD5D-01AE-4D1C-BCE0-D6884093CB17}"/>
              </a:ext>
            </a:extLst>
          </p:cNvPr>
          <p:cNvSpPr txBox="1"/>
          <p:nvPr/>
        </p:nvSpPr>
        <p:spPr>
          <a:xfrm>
            <a:off x="2053146" y="5309858"/>
            <a:ext cx="8279446" cy="1229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Chromogranin A &amp; B </a:t>
            </a:r>
            <a:r>
              <a:rPr lang="en-US" sz="1700" dirty="0"/>
              <a:t>both go from negative to strongly positive correlation in KO tumors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ACP3</a:t>
            </a:r>
            <a:r>
              <a:rPr lang="en-US" sz="1700" dirty="0"/>
              <a:t> goes from positive to strongly negative correlation in KO tumors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SE" sz="1700" b="1" dirty="0"/>
          </a:p>
        </p:txBody>
      </p:sp>
    </p:spTree>
    <p:extLst>
      <p:ext uri="{BB962C8B-B14F-4D97-AF65-F5344CB8AC3E}">
        <p14:creationId xmlns:p14="http://schemas.microsoft.com/office/powerpoint/2010/main" val="2003408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B972-BE38-4EB5-9893-DCFD4613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counter groups with significant differences between WT and KO for PIP5K1A</a:t>
            </a:r>
            <a:br>
              <a:rPr lang="en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4EA8-0FE1-4187-939E-B1C6E5A7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29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6B459-1BBB-46F9-AC70-E09B454E4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217" y="1711509"/>
            <a:ext cx="3293695" cy="2581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B0D9E1-2D58-45EC-BA0F-11B554B58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59" y="1651851"/>
            <a:ext cx="3372999" cy="264370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57F236-470B-455C-B04A-9696D375A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538" y="1657394"/>
            <a:ext cx="3373000" cy="2643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2A7288-9D91-4DAB-A5C2-920FEC849A4F}"/>
              </a:ext>
            </a:extLst>
          </p:cNvPr>
          <p:cNvSpPr txBox="1"/>
          <p:nvPr/>
        </p:nvSpPr>
        <p:spPr>
          <a:xfrm>
            <a:off x="1091610" y="4693173"/>
            <a:ext cx="10921409" cy="122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Monocytes/macrophages, endothelial cells and vessels higher in KO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Consistent with the pathway enrichment analysis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However, all comparisons were borderline and did not reach conventional statistical significance</a:t>
            </a:r>
            <a:endParaRPr lang="en-SE" sz="1700" dirty="0"/>
          </a:p>
        </p:txBody>
      </p:sp>
    </p:spTree>
    <p:extLst>
      <p:ext uri="{BB962C8B-B14F-4D97-AF65-F5344CB8AC3E}">
        <p14:creationId xmlns:p14="http://schemas.microsoft.com/office/powerpoint/2010/main" val="252890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37340112-8FA5-4589-A77D-BEDB7B89C16F}"/>
              </a:ext>
            </a:extLst>
          </p:cNvPr>
          <p:cNvSpPr/>
          <p:nvPr/>
        </p:nvSpPr>
        <p:spPr>
          <a:xfrm>
            <a:off x="3063600" y="1227825"/>
            <a:ext cx="6064798" cy="4206240"/>
          </a:xfrm>
          <a:prstGeom prst="ellipse">
            <a:avLst/>
          </a:prstGeom>
          <a:solidFill>
            <a:srgbClr val="EDF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B86F1-BC42-4732-916B-09FBFACB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130" y="233681"/>
            <a:ext cx="4550664" cy="82905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for PAAD</a:t>
            </a:r>
            <a:endParaRPr lang="en-S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2A509-6378-419F-9AF7-17764BBB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30</a:t>
            </a:fld>
            <a:endParaRPr lang="en-S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FA687-D3BE-4E97-84B5-110B8B79B6D2}"/>
              </a:ext>
            </a:extLst>
          </p:cNvPr>
          <p:cNvSpPr txBox="1"/>
          <p:nvPr/>
        </p:nvSpPr>
        <p:spPr>
          <a:xfrm>
            <a:off x="4223906" y="1792461"/>
            <a:ext cx="354911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 dirty="0"/>
              <a:t>PIP5K1A- Pancreatic adenocarcinoma</a:t>
            </a:r>
            <a:endParaRPr lang="en-SE" sz="17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B727C-A73C-4B70-8181-3ADAA55A8150}"/>
              </a:ext>
            </a:extLst>
          </p:cNvPr>
          <p:cNvSpPr txBox="1"/>
          <p:nvPr/>
        </p:nvSpPr>
        <p:spPr>
          <a:xfrm>
            <a:off x="3820668" y="2387057"/>
            <a:ext cx="453558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Associated with selected immune-infiltration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Inconsistent prognostic associations across PAAD subtypes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In mouse tumors, genotype produced stronger transcriptional separation than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Knockout was associated with inflammatory, angiogenic, and ECM-remodeling programs</a:t>
            </a:r>
            <a:endParaRPr lang="en-SE" sz="1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DB36C-F6A6-49B0-9BB3-2F4C0121CF5B}"/>
              </a:ext>
            </a:extLst>
          </p:cNvPr>
          <p:cNvSpPr txBox="1"/>
          <p:nvPr/>
        </p:nvSpPr>
        <p:spPr>
          <a:xfrm>
            <a:off x="1613555" y="5674718"/>
            <a:ext cx="8964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Limitations</a:t>
            </a:r>
            <a:r>
              <a:rPr lang="en-US" dirty="0"/>
              <a:t>: retrospective cohorts, heterogeneous datasets, multiple testing, and limited experimental sample sizes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008860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3820-FA86-47C2-A0D4-FC3EEC3E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813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S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A11A-CA48-4412-BABF-A17C0D1B5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3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Adhikari, H., &amp; Counter, C. M. (2018). Interrogating the protein interactomes of RAS isoforms identifies PIP5K1A as a KRAS-specific vulnerability. Nature communications, 9(1), 3646. </a:t>
            </a:r>
            <a:r>
              <a:rPr lang="en-US" sz="1800" dirty="0">
                <a:hlinkClick r:id="rId2"/>
              </a:rPr>
              <a:t>https://doi.org/10.1038/s41467-018-05692-6</a:t>
            </a:r>
            <a:r>
              <a:rPr lang="en-US" sz="1800" dirty="0"/>
              <a:t> </a:t>
            </a:r>
          </a:p>
          <a:p>
            <a:r>
              <a:rPr lang="en-US" sz="1800" dirty="0"/>
              <a:t>James ND, </a:t>
            </a:r>
            <a:r>
              <a:rPr lang="en-US" sz="1800" dirty="0" err="1"/>
              <a:t>Tannock</a:t>
            </a:r>
            <a:r>
              <a:rPr lang="en-US" sz="1800" dirty="0"/>
              <a:t> I, </a:t>
            </a:r>
            <a:r>
              <a:rPr lang="en-US" sz="1800" dirty="0" err="1"/>
              <a:t>N’Dow</a:t>
            </a:r>
            <a:r>
              <a:rPr lang="en-US" sz="1800" dirty="0"/>
              <a:t> J, Feng F, </a:t>
            </a:r>
            <a:r>
              <a:rPr lang="en-US" sz="1800" dirty="0" err="1"/>
              <a:t>Gillessen</a:t>
            </a:r>
            <a:r>
              <a:rPr lang="en-US" sz="1800" dirty="0"/>
              <a:t> S, Ali SA, et al. The Lancet Commission on prostate cancer: planning for the surge in cases. The Lancet, Published online 4 April 2024. </a:t>
            </a:r>
            <a:r>
              <a:rPr lang="en-US" sz="1800" dirty="0">
                <a:hlinkClick r:id="rId3"/>
              </a:rPr>
              <a:t>https://doi.org/10.1016/S0140-6736(24)00651-2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Leiphrakpam</a:t>
            </a:r>
            <a:r>
              <a:rPr lang="en-US" sz="1800" dirty="0"/>
              <a:t>, P. D., Chowdhury, S., Zhang, M., Bajaj, V., </a:t>
            </a:r>
            <a:r>
              <a:rPr lang="en-US" sz="1800" dirty="0" err="1"/>
              <a:t>Dhir</a:t>
            </a:r>
            <a:r>
              <a:rPr lang="en-US" sz="1800" dirty="0"/>
              <a:t>, M., &amp; Are, C. (2025). Trends in the Global Incidence of Pancreatic Cancer and a Brief Review of its Histologic and Molecular Subtypes. Journal of gastrointestinal cancer, 56(1), 71. </a:t>
            </a:r>
            <a:r>
              <a:rPr lang="en-US" sz="1800" dirty="0">
                <a:hlinkClick r:id="rId4"/>
              </a:rPr>
              <a:t>https://doi.org/10.1007/s12029-025-01183-2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Llorente</a:t>
            </a:r>
            <a:r>
              <a:rPr lang="en-US" sz="1800" dirty="0"/>
              <a:t>, A., Arora, G. K., Murad, R., &amp; </a:t>
            </a:r>
            <a:r>
              <a:rPr lang="en-US" sz="1800" dirty="0" err="1"/>
              <a:t>Emerling</a:t>
            </a:r>
            <a:r>
              <a:rPr lang="en-US" sz="1800" dirty="0"/>
              <a:t>, B. M. (2025). Phosphoinositide kinases in cancer: from molecular mechanisms to therapeutic opportunities. Nature reviews. Cancer, 25(6), 463–487. </a:t>
            </a:r>
            <a:r>
              <a:rPr lang="en-US" sz="1800" dirty="0">
                <a:hlinkClick r:id="rId5"/>
              </a:rPr>
              <a:t>https://doi.org/10.1038/s41568-025-00810-1</a:t>
            </a:r>
            <a:endParaRPr lang="en-US" sz="1800" dirty="0"/>
          </a:p>
          <a:p>
            <a:r>
              <a:rPr lang="en-US" sz="1800" dirty="0"/>
              <a:t>Sarwar, M. (2018). The role of phosphatidylinositol 4-phosphate 5-kinase type </a:t>
            </a:r>
            <a:r>
              <a:rPr lang="az-Cyrl-AZ" sz="1800" dirty="0"/>
              <a:t>І </a:t>
            </a:r>
            <a:r>
              <a:rPr lang="en-US" sz="1800" dirty="0"/>
              <a:t>alpha (PIP5K1</a:t>
            </a:r>
            <a:r>
              <a:rPr lang="el-GR" sz="1800" dirty="0"/>
              <a:t>α) </a:t>
            </a:r>
            <a:r>
              <a:rPr lang="en-US" sz="1800" dirty="0"/>
              <a:t>and utility of its inhibitor for targeting metastatic cancer. [Doctoral Thesis (compilation), Department of Translational Medicine]. Lund University, Faculty of Medicine. </a:t>
            </a:r>
          </a:p>
          <a:p>
            <a:r>
              <a:rPr lang="en-US" sz="1800" dirty="0"/>
              <a:t>Sung, H., Filho, A. M., </a:t>
            </a:r>
            <a:r>
              <a:rPr lang="en-US" sz="1800" dirty="0" err="1"/>
              <a:t>Laversanne</a:t>
            </a:r>
            <a:r>
              <a:rPr lang="en-US" sz="1800" dirty="0"/>
              <a:t>, M., </a:t>
            </a:r>
            <a:r>
              <a:rPr lang="en-US" sz="1800" dirty="0" err="1"/>
              <a:t>Ferlay</a:t>
            </a:r>
            <a:r>
              <a:rPr lang="en-US" sz="1800" dirty="0"/>
              <a:t>, J., Siegel, R. L., </a:t>
            </a:r>
            <a:r>
              <a:rPr lang="en-US" sz="1800" dirty="0" err="1"/>
              <a:t>Soerjomataram</a:t>
            </a:r>
            <a:r>
              <a:rPr lang="en-US" sz="1800" dirty="0"/>
              <a:t>, I., Jemal, A., &amp; Bray, F. (2026). Global cancer statistics 2024: GLOBOCAN estimates of incidence and mortality worldwide for 34 cancers in 186 countries. CA: a cancer journal for clinicians, 76(4), e70090. </a:t>
            </a:r>
            <a:r>
              <a:rPr lang="en-US" sz="1800" dirty="0">
                <a:hlinkClick r:id="rId6"/>
              </a:rPr>
              <a:t>https://doi.org/10.3322/caac.70090</a:t>
            </a:r>
            <a:endParaRPr lang="en-US" sz="1800" dirty="0"/>
          </a:p>
          <a:p>
            <a:r>
              <a:rPr lang="en-US" sz="1800" dirty="0"/>
              <a:t>Zhang, R., Zhou, J., Dong, S., Liu, G., &amp; Wei, X. (2026). Integrated computational and experimental analysis explores FOLH1 expression patterns across cancers and nominates melatonin as a potential modulator in prostate cancer models. PLOS Computational Biology, 22(5), e1014315. </a:t>
            </a:r>
            <a:r>
              <a:rPr lang="en-US" sz="1800" dirty="0">
                <a:hlinkClick r:id="rId7"/>
              </a:rPr>
              <a:t>https://doi.org/10.1371/journal.pcbi.1014315</a:t>
            </a:r>
            <a:r>
              <a:rPr lang="en-US" sz="1800" dirty="0"/>
              <a:t> </a:t>
            </a:r>
          </a:p>
          <a:p>
            <a:endParaRPr lang="en-SE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9D041-7520-4CF0-B3CE-F4588E15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31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75936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9C7B-3412-435E-BD92-1A0772B9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084" y="2425573"/>
            <a:ext cx="2953512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S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89877-9685-4F7B-9747-31D8AAEC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860B0-6E1E-4F75-8623-B3EC25649961}" type="slidenum">
              <a:rPr lang="en-SE" smtClean="0"/>
              <a:t>32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1357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7329</TotalTime>
  <Words>1994</Words>
  <Application>Microsoft Office PowerPoint</Application>
  <PresentationFormat>Widescreen</PresentationFormat>
  <Paragraphs>281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Times New Roman</vt:lpstr>
      <vt:lpstr>Office Theme</vt:lpstr>
      <vt:lpstr>Exploring FOLH1 &amp; PIP5K1A as a Context-Dependent Markers of Tumor Biology Across Cancer Types, Disease Progression and Tumor Immune Microenvironment</vt:lpstr>
      <vt:lpstr>Cohorts &amp; Data Used</vt:lpstr>
      <vt:lpstr>1. Prostate Adenocarcinoma (PRAD)</vt:lpstr>
      <vt:lpstr>Background</vt:lpstr>
      <vt:lpstr>FOLH1 Across Cancer Types in TCGA Pan cancer Cohort </vt:lpstr>
      <vt:lpstr>FOLH1 Expression Across Normal Solid Tissue, Primary and Metastatic tumors</vt:lpstr>
      <vt:lpstr>FOLH1 &amp; Prostate Cancer Progression</vt:lpstr>
      <vt:lpstr>Survival Study on Primary and Metastatic Tumor Patients With Respect to FOLH1 Expression Levels</vt:lpstr>
      <vt:lpstr>PowerPoint Presentation</vt:lpstr>
      <vt:lpstr>Correlation for Primary and Metastatic tumors with known biomarkers of PRAD</vt:lpstr>
      <vt:lpstr>Correlation for Primary tumors with known biomarkers of PRAD</vt:lpstr>
      <vt:lpstr>Correlation for Metastatic tumors with known biomarkers of PRAD</vt:lpstr>
      <vt:lpstr>Biomarkers with DFS separation in Primary Tumor </vt:lpstr>
      <vt:lpstr>Biomarkers With DFS Separation in Metastatic Tumor </vt:lpstr>
      <vt:lpstr>FOLH1 correlation with MCP-Counter Scores</vt:lpstr>
      <vt:lpstr>Immune Pathway Activity Associated with FOLH1 Expression in TCGA PRAD</vt:lpstr>
      <vt:lpstr>Conclusions for PRAD</vt:lpstr>
      <vt:lpstr>2. Pancreatic Adenocarcinoma (PAAD)</vt:lpstr>
      <vt:lpstr>Background</vt:lpstr>
      <vt:lpstr>PIP5K1A correlation with immune infiltrates in Pancreatic Adenocarcinoma </vt:lpstr>
      <vt:lpstr>PFS Study of PIP5K1A Expression with Immune Infiltrates in TCGA-PAAD</vt:lpstr>
      <vt:lpstr>PIP5K1A association with DFS in classical-like and basal-like subtypes of PAAD</vt:lpstr>
      <vt:lpstr>3. Mouse Models with Pancreatic Adenocarcinoma</vt:lpstr>
      <vt:lpstr>RNA-Seq Workflow</vt:lpstr>
      <vt:lpstr>PCA Clustering of Sample Groups Across Treatment Collections</vt:lpstr>
      <vt:lpstr>Original Tumor: Differential Expression Analysis, WT v KO</vt:lpstr>
      <vt:lpstr>Pathway Enrichment Analysis</vt:lpstr>
      <vt:lpstr>Correlation of PRAD Biomarkers with FOLH1 in original tumor mouse models</vt:lpstr>
      <vt:lpstr>MCP counter groups with significant differences between WT and KO for PIP5K1A </vt:lpstr>
      <vt:lpstr>Conclusions for PAAD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FOLH1 as a Context-dependent Marker of Tumor Biology Across Cancer Type, Disease Progression and Transcriptional State</dc:title>
  <dc:creator>Ravindu Sachintha Haupe Liyanage</dc:creator>
  <cp:lastModifiedBy>Ravindu Sachintha Haupe Liyanage</cp:lastModifiedBy>
  <cp:revision>102</cp:revision>
  <dcterms:created xsi:type="dcterms:W3CDTF">2026-08-20T08:37:04Z</dcterms:created>
  <dcterms:modified xsi:type="dcterms:W3CDTF">2026-08-25T10:50:57Z</dcterms:modified>
</cp:coreProperties>
</file>