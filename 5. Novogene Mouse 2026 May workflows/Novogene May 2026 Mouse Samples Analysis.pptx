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74" r:id="rId5"/>
    <p:sldId id="258" r:id="rId6"/>
    <p:sldId id="299" r:id="rId7"/>
    <p:sldId id="294" r:id="rId8"/>
    <p:sldId id="295" r:id="rId9"/>
    <p:sldId id="296" r:id="rId10"/>
    <p:sldId id="297" r:id="rId11"/>
    <p:sldId id="298" r:id="rId12"/>
    <p:sldId id="329" r:id="rId13"/>
    <p:sldId id="300" r:id="rId14"/>
    <p:sldId id="305" r:id="rId15"/>
    <p:sldId id="306" r:id="rId16"/>
    <p:sldId id="284" r:id="rId17"/>
    <p:sldId id="310" r:id="rId18"/>
    <p:sldId id="320" r:id="rId19"/>
    <p:sldId id="311" r:id="rId20"/>
    <p:sldId id="312" r:id="rId21"/>
    <p:sldId id="313" r:id="rId22"/>
    <p:sldId id="314" r:id="rId23"/>
    <p:sldId id="317" r:id="rId24"/>
    <p:sldId id="316" r:id="rId25"/>
    <p:sldId id="321" r:id="rId26"/>
    <p:sldId id="315" r:id="rId27"/>
    <p:sldId id="318" r:id="rId28"/>
    <p:sldId id="319" r:id="rId29"/>
    <p:sldId id="334" r:id="rId30"/>
    <p:sldId id="335" r:id="rId31"/>
    <p:sldId id="331" r:id="rId32"/>
    <p:sldId id="332" r:id="rId33"/>
    <p:sldId id="333" r:id="rId34"/>
    <p:sldId id="309" r:id="rId35"/>
    <p:sldId id="260" r:id="rId36"/>
    <p:sldId id="275" r:id="rId37"/>
    <p:sldId id="259" r:id="rId38"/>
    <p:sldId id="276" r:id="rId39"/>
    <p:sldId id="277" r:id="rId40"/>
    <p:sldId id="278" r:id="rId41"/>
    <p:sldId id="307" r:id="rId42"/>
    <p:sldId id="301" r:id="rId43"/>
    <p:sldId id="302" r:id="rId44"/>
    <p:sldId id="303" r:id="rId45"/>
    <p:sldId id="304" r:id="rId46"/>
    <p:sldId id="308" r:id="rId47"/>
    <p:sldId id="336" r:id="rId48"/>
    <p:sldId id="337" r:id="rId49"/>
    <p:sldId id="285" r:id="rId50"/>
    <p:sldId id="261" r:id="rId51"/>
    <p:sldId id="262" r:id="rId52"/>
    <p:sldId id="324" r:id="rId53"/>
    <p:sldId id="323" r:id="rId54"/>
    <p:sldId id="322" r:id="rId55"/>
    <p:sldId id="325" r:id="rId56"/>
    <p:sldId id="328" r:id="rId57"/>
    <p:sldId id="286" r:id="rId58"/>
    <p:sldId id="263" r:id="rId59"/>
    <p:sldId id="281" r:id="rId60"/>
    <p:sldId id="279" r:id="rId61"/>
    <p:sldId id="280" r:id="rId62"/>
    <p:sldId id="282" r:id="rId63"/>
    <p:sldId id="283" r:id="rId64"/>
    <p:sldId id="326" r:id="rId65"/>
    <p:sldId id="338" r:id="rId66"/>
    <p:sldId id="342" r:id="rId67"/>
    <p:sldId id="343" r:id="rId68"/>
    <p:sldId id="327" r:id="rId69"/>
    <p:sldId id="339" r:id="rId70"/>
    <p:sldId id="340" r:id="rId71"/>
    <p:sldId id="341" r:id="rId72"/>
    <p:sldId id="287" r:id="rId73"/>
    <p:sldId id="265" r:id="rId74"/>
    <p:sldId id="288" r:id="rId75"/>
    <p:sldId id="289" r:id="rId76"/>
    <p:sldId id="290" r:id="rId77"/>
    <p:sldId id="291" r:id="rId78"/>
    <p:sldId id="292" r:id="rId79"/>
    <p:sldId id="293" r:id="rId8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60"/>
  </p:normalViewPr>
  <p:slideViewPr>
    <p:cSldViewPr snapToGrid="0">
      <p:cViewPr>
        <p:scale>
          <a:sx n="90" d="100"/>
          <a:sy n="90" d="100"/>
        </p:scale>
        <p:origin x="27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5BB0-B0E8-4DF4-8A48-570D21205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DC21C-DC12-4D86-890E-E594B28E1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5F29A-FBE9-4B52-AFF8-A803CB3D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73C5-DEEF-4F2D-8D10-7E51D1AC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7B9E2-F7B9-4E19-A5D4-61764CF1D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1062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5328-1E69-46DD-B229-F121411F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122F-4928-4882-A5F2-C8F1A53EB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AD1AA-47C9-4079-AE60-D091D849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C0CE-D53D-45CA-A5B4-E17FCF3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DB8C7-B28C-455B-9FD2-A05B9FA3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9790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8398-5893-4E92-B636-63B33AD3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F858A-9C2B-473B-A995-4FED44889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DF093-1DAE-4080-931E-C7F06F84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8329C-8392-4EC7-B54D-5C0E5E52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B212E-F938-4EC4-92FC-E9514750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7945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2E1B-2A83-46E0-83F2-F91A2F5B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A54F5-4628-4925-ACAB-22CA8D99E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19489-E7C7-47DA-8683-B37E6A51E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12DD9-63C4-4798-8EF2-3DE3615E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792D4-CB6B-47F3-9E0D-B28BE3AC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081F6-F802-4923-89E9-C2A261AA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634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C82D-91E8-476C-B0F3-7309BF14E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BB55C-4771-4A8B-96EB-B4E94261E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3C3E2-68DD-4BB2-9E44-923039049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8165B-0D67-4FDF-B232-5AEC9FECA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C4211-DCA8-495D-85D0-98ECD4C14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8B325-45B5-4604-8807-F2C171D9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0A7E0F-9B57-47A2-B32F-CCD031A0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14CB3-EEDA-4F24-925B-8C21896F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4691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7ACB-3773-40A5-8F57-AC4B9DDA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F2518-72E8-4D3E-9DA3-2B084090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BE241-C1F3-428D-81A5-4F9FEC41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1A4B0-82A4-416F-8698-740C089E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702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FE3D8-8395-49E7-B77A-8A5FBD0F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B9990-3A1F-497B-9DF9-844069DA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5A1FC-AC59-47B3-BE32-CBDDF58F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6368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45E6-271C-4381-9A82-8B28AC48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5ECD-EB7B-4A4F-A4F1-0E2C2140C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B6603-5B2B-4049-92E9-356860273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15C74-807F-4FBD-889A-1828746B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B5600-9E64-4D27-8491-777AE2FE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40F68-6683-4DAD-A15B-8E79AAC8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0129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DF21-2619-4719-9A42-E76B66C2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DF304-027D-4354-8F10-961BFE736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3D051-9B27-4CF4-854E-F096AA256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EC539-F5B0-4822-B785-472A8AD3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09FDE-F889-4F1B-820E-51523A67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8426-12AA-4349-B719-90686952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8535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880A-3D85-49A8-B888-129002AF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5312D-119B-4FB1-B8FC-476FBE89C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B03E3-79B3-4A2D-B707-0DF32E25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E53C3-C0EC-4F10-994C-B2D2B8E0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E1AAB-BE71-4163-B7A5-9BFBD859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997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BD59D-A023-4A30-9E24-39EC712C37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41D93-741E-4D99-A545-EA390501C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8CC5A-8045-4F96-8386-BF62C65F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8B549-9B46-4451-96C6-43C4FAC8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9B69F-6A57-4273-9759-A3E68190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7192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ABAA8-51EE-430E-B265-03F9ED0E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39F62-01E8-4B45-83E1-63FCF9DDF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7BFC3-D7D8-4C05-887C-4451B22DE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9B0C8-7236-4C90-A64D-43403F238C86}" type="datetimeFigureOut">
              <a:rPr lang="en-SE" smtClean="0"/>
              <a:t>2026-08-17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3D25-6A82-412A-B569-CF544A357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440E-55BA-4366-9C6A-903B700E8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8A9A6-17D7-4B84-A21F-D33A17F37E3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46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BBF5-4D60-486F-AD8E-AD83768B7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Novogene May 2026 Mouse Samples Analysis</a:t>
            </a:r>
            <a:endParaRPr lang="en-SE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2446B-EF76-470A-8428-C2D78655C2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Ravi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42074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1. Original tumor (2026) with PIP5K1A WT &amp; KO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338456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95FFB4-D64F-431B-8FDA-75CE36A989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53"/>
          <a:stretch/>
        </p:blipFill>
        <p:spPr>
          <a:xfrm>
            <a:off x="301463" y="4563910"/>
            <a:ext cx="5048250" cy="1393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B6C0F-3677-4BE4-A765-73188E3C19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1" t="37863" r="16901" b="29434"/>
          <a:stretch/>
        </p:blipFill>
        <p:spPr>
          <a:xfrm>
            <a:off x="5248276" y="5738829"/>
            <a:ext cx="6820950" cy="7938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DDC94A-BE5E-4AF0-88B8-9F3F5DEA4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16" y="374968"/>
            <a:ext cx="4411772" cy="37815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228539-0EE3-45BF-977C-05C885175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3" y="1856877"/>
            <a:ext cx="5290234" cy="39676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AD826A-698B-40BD-9F1E-FF2800F2BC85}"/>
              </a:ext>
            </a:extLst>
          </p:cNvPr>
          <p:cNvSpPr/>
          <p:nvPr/>
        </p:nvSpPr>
        <p:spPr>
          <a:xfrm>
            <a:off x="9858375" y="4438650"/>
            <a:ext cx="314325" cy="7938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A67C8-1B17-4474-B994-CA81D1523CB6}"/>
              </a:ext>
            </a:extLst>
          </p:cNvPr>
          <p:cNvSpPr/>
          <p:nvPr/>
        </p:nvSpPr>
        <p:spPr>
          <a:xfrm>
            <a:off x="10560377" y="4449309"/>
            <a:ext cx="314325" cy="7938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BD2818-FC4F-4955-889A-02E729C895BE}"/>
              </a:ext>
            </a:extLst>
          </p:cNvPr>
          <p:cNvSpPr/>
          <p:nvPr/>
        </p:nvSpPr>
        <p:spPr>
          <a:xfrm>
            <a:off x="11262379" y="4449309"/>
            <a:ext cx="314325" cy="7938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1619C8-909F-4705-B4FF-D020110747BA}"/>
              </a:ext>
            </a:extLst>
          </p:cNvPr>
          <p:cNvSpPr/>
          <p:nvPr/>
        </p:nvSpPr>
        <p:spPr>
          <a:xfrm>
            <a:off x="8501588" y="3848000"/>
            <a:ext cx="314325" cy="7938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C35ECB-C549-48C0-BD1B-9C2E4B447D30}"/>
              </a:ext>
            </a:extLst>
          </p:cNvPr>
          <p:cNvSpPr/>
          <p:nvPr/>
        </p:nvSpPr>
        <p:spPr>
          <a:xfrm>
            <a:off x="7844770" y="3840715"/>
            <a:ext cx="314325" cy="7938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D93404-8C1E-4C29-8B04-B5DFD14FB1BA}"/>
              </a:ext>
            </a:extLst>
          </p:cNvPr>
          <p:cNvSpPr/>
          <p:nvPr/>
        </p:nvSpPr>
        <p:spPr>
          <a:xfrm>
            <a:off x="7168495" y="2709792"/>
            <a:ext cx="314325" cy="79386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7B26CE-894B-4C52-A01F-5F89C042F67D}"/>
              </a:ext>
            </a:extLst>
          </p:cNvPr>
          <p:cNvSpPr/>
          <p:nvPr/>
        </p:nvSpPr>
        <p:spPr>
          <a:xfrm>
            <a:off x="9230673" y="3362622"/>
            <a:ext cx="314325" cy="79386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5996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9AF61D-7BFE-4E91-BFF3-8FE7BBA66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210466"/>
            <a:ext cx="4991701" cy="4437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17A312-C3E2-4BD4-A320-42EB6AF49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451" y="3613666"/>
            <a:ext cx="3438525" cy="30564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E6A868-21A3-4ED8-9C6A-323DE15DB72A}"/>
              </a:ext>
            </a:extLst>
          </p:cNvPr>
          <p:cNvSpPr txBox="1"/>
          <p:nvPr/>
        </p:nvSpPr>
        <p:spPr>
          <a:xfrm>
            <a:off x="726860" y="377424"/>
            <a:ext cx="391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Spearman sample to sample correlation</a:t>
            </a:r>
            <a:endParaRPr lang="en-S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4539F1-D716-4F5D-91DB-BCB0CDF65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808" y="377424"/>
            <a:ext cx="3445054" cy="2952903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83609D00-5BE9-4D05-89CE-7B259E1C3A62}"/>
              </a:ext>
            </a:extLst>
          </p:cNvPr>
          <p:cNvSpPr/>
          <p:nvPr/>
        </p:nvSpPr>
        <p:spPr>
          <a:xfrm>
            <a:off x="10467975" y="1028700"/>
            <a:ext cx="352425" cy="486727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77DC50-9D53-4A23-BD76-DA25D35B6802}"/>
              </a:ext>
            </a:extLst>
          </p:cNvPr>
          <p:cNvSpPr txBox="1"/>
          <p:nvPr/>
        </p:nvSpPr>
        <p:spPr>
          <a:xfrm>
            <a:off x="10873556" y="3244334"/>
            <a:ext cx="86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0835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3EA106-F3E1-422A-A1E6-FF687CD2EA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1" t="37863" r="16901" b="29434"/>
          <a:stretch/>
        </p:blipFill>
        <p:spPr>
          <a:xfrm>
            <a:off x="2431890" y="5997337"/>
            <a:ext cx="6820950" cy="7938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32C500-5078-4FAF-ACE3-F40CBA1F5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135039"/>
            <a:ext cx="4552951" cy="546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F27B19-8950-46E1-B0D3-0ACCFFF0A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037" y="135039"/>
            <a:ext cx="4662488" cy="55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5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2AC98-F19A-4225-A1DA-4D21BC24466B}"/>
              </a:ext>
            </a:extLst>
          </p:cNvPr>
          <p:cNvSpPr txBox="1"/>
          <p:nvPr/>
        </p:nvSpPr>
        <p:spPr>
          <a:xfrm>
            <a:off x="2346106" y="472597"/>
            <a:ext cx="749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tumor (WT vs KO) Pathway &amp; Immune enrichment Summary (Females)</a:t>
            </a:r>
            <a:endParaRPr lang="en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41BEA0-B834-40EA-AE8E-AC424ED4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95" y="1094100"/>
            <a:ext cx="7666785" cy="53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6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0304C4B-3C14-4816-A981-7C8C96E44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0" y="600076"/>
            <a:ext cx="7835907" cy="587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454A7-694F-4511-912B-0F9146AC8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883" y="467913"/>
            <a:ext cx="7896233" cy="592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5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962C34-9DD1-4D1A-B898-E3026D204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500060"/>
            <a:ext cx="7810507" cy="58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2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8FBA8-A75D-4BA0-9391-47E27FF96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75" y="195263"/>
            <a:ext cx="8801100" cy="66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1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DBC0DA-6853-4A2F-86FB-E35966D75913}"/>
              </a:ext>
            </a:extLst>
          </p:cNvPr>
          <p:cNvSpPr txBox="1"/>
          <p:nvPr/>
        </p:nvSpPr>
        <p:spPr>
          <a:xfrm>
            <a:off x="3638551" y="449553"/>
            <a:ext cx="44731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Expression patterns between WT and KO in</a:t>
            </a:r>
          </a:p>
          <a:p>
            <a:pPr algn="ctr"/>
            <a:r>
              <a:rPr lang="en-US" u="sng" dirty="0"/>
              <a:t>interested Biomarkers that showed significant</a:t>
            </a:r>
          </a:p>
          <a:p>
            <a:pPr algn="ctr"/>
            <a:r>
              <a:rPr lang="en-US" u="sng" dirty="0"/>
              <a:t>differences</a:t>
            </a:r>
            <a:endParaRPr lang="en-SE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DA590A-47BC-4CB3-9C80-B1F8CB250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7" y="611478"/>
            <a:ext cx="3245354" cy="29749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C2B562-FFDF-423D-A85C-083B88430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322" y="3738398"/>
            <a:ext cx="3245354" cy="2974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C54772-19D5-4919-9C44-84802AB85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570" y="611478"/>
            <a:ext cx="3245354" cy="2974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F3772-526A-4001-8246-386F9291C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765" y="3796828"/>
            <a:ext cx="3117872" cy="28580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EC2C9F-4092-45C7-B45E-ED41E0114808}"/>
              </a:ext>
            </a:extLst>
          </p:cNvPr>
          <p:cNvSpPr txBox="1"/>
          <p:nvPr/>
        </p:nvSpPr>
        <p:spPr>
          <a:xfrm>
            <a:off x="6330529" y="2228850"/>
            <a:ext cx="178117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0" dirty="0">
                <a:solidFill>
                  <a:srgbClr val="212529"/>
                </a:solidFill>
                <a:effectLst/>
                <a:latin typeface="-apple-system"/>
              </a:rPr>
              <a:t>RB1: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 a tumor suppressor that </a:t>
            </a:r>
            <a:r>
              <a:rPr lang="en-US" sz="105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restrains the G1/S cell cycle transition 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by binding and inhibiting E2F transcription factors in its hypo-phosphorylated state. </a:t>
            </a:r>
            <a:endParaRPr lang="en-SE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1CEB9-7BC5-4135-823A-EFB86F131C7A}"/>
              </a:ext>
            </a:extLst>
          </p:cNvPr>
          <p:cNvSpPr txBox="1"/>
          <p:nvPr/>
        </p:nvSpPr>
        <p:spPr>
          <a:xfrm>
            <a:off x="9874754" y="4305300"/>
            <a:ext cx="20239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212529"/>
                </a:solidFill>
                <a:effectLst/>
                <a:latin typeface="-apple-system"/>
              </a:rPr>
              <a:t>TTF1: 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encodes transcription termination factor 1, a nucleolar factor that plays a critical </a:t>
            </a:r>
            <a:r>
              <a:rPr lang="en-US" sz="105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role in ribosomal gene transcription. terminates RNA polymerase I transcription. 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Pathogenic association reported in hepatocellular carcinoma. </a:t>
            </a:r>
            <a:endParaRPr lang="en-SE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8377F-9E86-4BE1-B74C-787E1B683DE3}"/>
              </a:ext>
            </a:extLst>
          </p:cNvPr>
          <p:cNvSpPr txBox="1"/>
          <p:nvPr/>
        </p:nvSpPr>
        <p:spPr>
          <a:xfrm>
            <a:off x="2933700" y="1579388"/>
            <a:ext cx="239310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212529"/>
                </a:solidFill>
                <a:effectLst/>
                <a:latin typeface="-apple-system"/>
              </a:rPr>
              <a:t>FOLH1: 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encodes folate hydrolase 1, a type II transmembrane glycoprotein state. Through its folate hydrolase activity, FOLH1 </a:t>
            </a:r>
            <a:r>
              <a:rPr lang="en-US" sz="105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mediates folate absorption in the gut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. </a:t>
            </a:r>
            <a:endParaRPr lang="en-SE" sz="10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F4DD2E-17DA-4319-B6E3-18DA9D8D7E7F}"/>
              </a:ext>
            </a:extLst>
          </p:cNvPr>
          <p:cNvSpPr txBox="1"/>
          <p:nvPr/>
        </p:nvSpPr>
        <p:spPr>
          <a:xfrm>
            <a:off x="189493" y="4597123"/>
            <a:ext cx="179387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212529"/>
                </a:solidFill>
                <a:effectLst/>
                <a:latin typeface="-apple-system"/>
              </a:rPr>
              <a:t>MYC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: encodes a basic helix-loop-helix transcription factor that functions as a nuclear phosphoprotein in </a:t>
            </a:r>
            <a:r>
              <a:rPr lang="en-US" sz="105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cell cycle progression, apoptosis, and cellular transformation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. Amplification of MYC is frequently observed in numerous human cancers.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18443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3362325" y="342900"/>
            <a:ext cx="5246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of Interested biomarkers with FOLH1 (WT)</a:t>
            </a:r>
            <a:endParaRPr lang="en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F3B9BB-DE9D-4748-8360-704E14D1E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404645"/>
            <a:ext cx="5928437" cy="4742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337647-A261-4136-8D5B-D721C961B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" y="1404645"/>
            <a:ext cx="5928437" cy="474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59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3362325" y="370892"/>
            <a:ext cx="5972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of Interested biomarkers with FOLH1 (PIP5K1A KO)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0736F-3655-48A7-A767-28D8A9AF3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19772"/>
            <a:ext cx="5707224" cy="4565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A757FF-0CEC-485B-81AE-ECDB60AE2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9" y="1519772"/>
            <a:ext cx="5854961" cy="468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67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3362325" y="342900"/>
            <a:ext cx="6640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counter groups with significant differences between WT and KO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6B459-1BBB-46F9-AC70-E09B454E4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89" y="1969349"/>
            <a:ext cx="3724627" cy="2919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B0D9E1-2D58-45EC-BA0F-11B554B58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965" y="1866052"/>
            <a:ext cx="3856418" cy="30225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57F236-470B-455C-B04A-9696D375AA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036" y="1866052"/>
            <a:ext cx="3856419" cy="3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36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99508C-CAE9-4A06-8033-6CAE17958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94" y="1562097"/>
            <a:ext cx="4432305" cy="3799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E9106-9DE7-4AEC-A017-863CFC1C0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825" y="1333501"/>
            <a:ext cx="6115050" cy="4892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FCDBC3-0E45-45C4-BC2D-3613FD06D915}"/>
              </a:ext>
            </a:extLst>
          </p:cNvPr>
          <p:cNvSpPr txBox="1"/>
          <p:nvPr/>
        </p:nvSpPr>
        <p:spPr>
          <a:xfrm>
            <a:off x="3686175" y="363855"/>
            <a:ext cx="3967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Clustering based on MCP-counter scores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570060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2. Male v Female for both PIP5K1A WT &amp; KO (Syngeneic tumor controls combined)</a:t>
            </a:r>
            <a:br>
              <a:rPr lang="en-US" sz="3200" dirty="0"/>
            </a:b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792863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7A7A9-C5B6-4DF3-A8AC-614C72909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" y="1459338"/>
            <a:ext cx="6653100" cy="4657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1E518-8FBF-48E1-BF14-D9A4755EA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771" y="1459338"/>
            <a:ext cx="5466229" cy="48588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8B21E-635E-4BBF-AAEC-4387A6896CCC}"/>
              </a:ext>
            </a:extLst>
          </p:cNvPr>
          <p:cNvSpPr txBox="1"/>
          <p:nvPr/>
        </p:nvSpPr>
        <p:spPr>
          <a:xfrm>
            <a:off x="3896882" y="350378"/>
            <a:ext cx="353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Original and Syngeneic tumors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022509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2919CF-003D-42CA-81BF-E5B69FED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20" y="691972"/>
            <a:ext cx="5795480" cy="5795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5B68E-E717-4E03-9A14-690DDC9E8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93669"/>
            <a:ext cx="5931404" cy="52723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ED9E0E-EA58-47FD-91B9-6C65F7CF62CB}"/>
              </a:ext>
            </a:extLst>
          </p:cNvPr>
          <p:cNvSpPr txBox="1"/>
          <p:nvPr/>
        </p:nvSpPr>
        <p:spPr>
          <a:xfrm>
            <a:off x="4768553" y="202913"/>
            <a:ext cx="2367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syngeneic tumors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52221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FC627-D57B-4883-822E-734A06D2F1BB}"/>
              </a:ext>
            </a:extLst>
          </p:cNvPr>
          <p:cNvSpPr txBox="1"/>
          <p:nvPr/>
        </p:nvSpPr>
        <p:spPr>
          <a:xfrm>
            <a:off x="1954305" y="313765"/>
            <a:ext cx="1263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 samples</a:t>
            </a:r>
            <a:endParaRPr lang="en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2CF5D-696C-4649-8E9F-9B5A6F6D7E73}"/>
              </a:ext>
            </a:extLst>
          </p:cNvPr>
          <p:cNvSpPr txBox="1"/>
          <p:nvPr/>
        </p:nvSpPr>
        <p:spPr>
          <a:xfrm>
            <a:off x="8068234" y="313765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 samples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B2F57-E583-4E1E-9938-3FC00AC32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1" y="768557"/>
            <a:ext cx="5050921" cy="6061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79373C-4E9E-4BFF-9DD1-92D88E969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02" y="713032"/>
            <a:ext cx="5120807" cy="61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6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DBC0DA-6853-4A2F-86FB-E35966D75913}"/>
              </a:ext>
            </a:extLst>
          </p:cNvPr>
          <p:cNvSpPr txBox="1"/>
          <p:nvPr/>
        </p:nvSpPr>
        <p:spPr>
          <a:xfrm>
            <a:off x="1875685" y="315256"/>
            <a:ext cx="4610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Expression patterns with Significant differences</a:t>
            </a:r>
          </a:p>
          <a:p>
            <a:pPr algn="ctr"/>
            <a:r>
              <a:rPr lang="en-US" u="sng" dirty="0"/>
              <a:t> between Males and Females in WT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C2C9F-4092-45C7-B45E-ED41E0114808}"/>
              </a:ext>
            </a:extLst>
          </p:cNvPr>
          <p:cNvSpPr txBox="1"/>
          <p:nvPr/>
        </p:nvSpPr>
        <p:spPr>
          <a:xfrm>
            <a:off x="5425561" y="5239838"/>
            <a:ext cx="239310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0" dirty="0">
                <a:solidFill>
                  <a:srgbClr val="212529"/>
                </a:solidFill>
                <a:effectLst/>
                <a:latin typeface="-apple-system"/>
              </a:rPr>
              <a:t>RB1: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 a tumor suppressor that </a:t>
            </a:r>
            <a:r>
              <a:rPr lang="en-US" sz="105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restrains the G1/S cell cycle transition 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by binding and inhibiting E2F transcription factors in its hypo-phosphorylated state. </a:t>
            </a:r>
            <a:endParaRPr lang="en-SE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8377F-9E86-4BE1-B74C-787E1B683DE3}"/>
              </a:ext>
            </a:extLst>
          </p:cNvPr>
          <p:cNvSpPr txBox="1"/>
          <p:nvPr/>
        </p:nvSpPr>
        <p:spPr>
          <a:xfrm>
            <a:off x="1085739" y="5401421"/>
            <a:ext cx="239310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212529"/>
                </a:solidFill>
                <a:effectLst/>
                <a:latin typeface="-apple-system"/>
              </a:rPr>
              <a:t>FOLH1: 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encodes folate hydrolase 1, a type II transmembrane glycoprotein state. Through its folate hydrolase activity, FOLH1 </a:t>
            </a:r>
            <a:r>
              <a:rPr lang="en-US" sz="105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mediates folate absorption in the gut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. </a:t>
            </a:r>
            <a:endParaRPr lang="en-SE" sz="10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DBC5B-6304-4E8E-A22A-EAD8FBC4EB74}"/>
              </a:ext>
            </a:extLst>
          </p:cNvPr>
          <p:cNvCxnSpPr>
            <a:cxnSpLocks/>
          </p:cNvCxnSpPr>
          <p:nvPr/>
        </p:nvCxnSpPr>
        <p:spPr>
          <a:xfrm>
            <a:off x="8641976" y="0"/>
            <a:ext cx="1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FCCCEC-EA90-431F-8425-64883B76D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47" y="1579512"/>
            <a:ext cx="3749986" cy="34374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B4B574-2030-4D19-8D72-3EDF63DFC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257" y="1471138"/>
            <a:ext cx="3868212" cy="3545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CB2179-9B58-4B73-9869-5B08F986C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820" y="692429"/>
            <a:ext cx="2849381" cy="26119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59F566-5306-41D1-977F-0C49B0336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91" y="3724553"/>
            <a:ext cx="3046437" cy="279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18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DBC0DA-6853-4A2F-86FB-E35966D75913}"/>
              </a:ext>
            </a:extLst>
          </p:cNvPr>
          <p:cNvSpPr txBox="1"/>
          <p:nvPr/>
        </p:nvSpPr>
        <p:spPr>
          <a:xfrm>
            <a:off x="3551576" y="180612"/>
            <a:ext cx="4647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Expression patterns with significant differences </a:t>
            </a:r>
          </a:p>
          <a:p>
            <a:pPr algn="ctr"/>
            <a:r>
              <a:rPr lang="en-US" u="sng" dirty="0"/>
              <a:t>between Males and females in KO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5484D4-ACAA-42A5-A0A5-6B80F6669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96" y="1067062"/>
            <a:ext cx="3031208" cy="2778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947648-DD02-4458-AE20-119E142D8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67" y="895431"/>
            <a:ext cx="3055109" cy="2800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B3780-4042-4EF7-BDE9-17A52CA45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2" y="3695947"/>
            <a:ext cx="3312446" cy="3036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8207D-2578-4B4F-8AF5-E112A29C7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488" y="3845669"/>
            <a:ext cx="3205116" cy="29380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5EF82-D939-42F3-94EE-22E990D057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94" y="976943"/>
            <a:ext cx="3227830" cy="295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61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2AC98-F19A-4225-A1DA-4D21BC24466B}"/>
              </a:ext>
            </a:extLst>
          </p:cNvPr>
          <p:cNvSpPr txBox="1"/>
          <p:nvPr/>
        </p:nvSpPr>
        <p:spPr>
          <a:xfrm>
            <a:off x="2346106" y="176762"/>
            <a:ext cx="7139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Untreated WT Pathway &amp; Immune enrichment Summary (Female vs Male)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D1071B-791A-4EAA-A79E-795FF91B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157" y="555060"/>
            <a:ext cx="8819546" cy="617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761B2-91BE-452C-8267-82260A5E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22" y="546931"/>
            <a:ext cx="8250969" cy="61882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2454B-A9D2-4EB8-A018-3CF94793C375}"/>
              </a:ext>
            </a:extLst>
          </p:cNvPr>
          <p:cNvSpPr txBox="1"/>
          <p:nvPr/>
        </p:nvSpPr>
        <p:spPr>
          <a:xfrm>
            <a:off x="9162473" y="1108364"/>
            <a:ext cx="272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WT Samples for PIP5K1A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3658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BD01BE-EBC4-44F1-9D7D-7C83F3D5C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22" y="642000"/>
            <a:ext cx="7796622" cy="584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73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2AC98-F19A-4225-A1DA-4D21BC24466B}"/>
              </a:ext>
            </a:extLst>
          </p:cNvPr>
          <p:cNvSpPr txBox="1"/>
          <p:nvPr/>
        </p:nvSpPr>
        <p:spPr>
          <a:xfrm>
            <a:off x="2346106" y="176762"/>
            <a:ext cx="7139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Untreated KO Pathway &amp; Immune enrichment Summary (Female vs Male)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AC5D5-4643-4A87-8CD9-DE2B2737E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243" y="718979"/>
            <a:ext cx="8517513" cy="596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63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60A0FF-8C30-4812-9608-92F5B79C0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104" y="779797"/>
            <a:ext cx="7315215" cy="54864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197940-0363-4D98-B9F0-715193698D1C}"/>
              </a:ext>
            </a:extLst>
          </p:cNvPr>
          <p:cNvSpPr txBox="1"/>
          <p:nvPr/>
        </p:nvSpPr>
        <p:spPr>
          <a:xfrm>
            <a:off x="849745" y="969818"/>
            <a:ext cx="2347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PIP5K1A KO Samples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53217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4659A-CB06-4D7F-803A-7E6D9BF6A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115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16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688F68-DD26-464D-817F-B19FE6DF3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872" y="239280"/>
            <a:ext cx="8300822" cy="62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731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3362325" y="342900"/>
            <a:ext cx="5699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of Interested biomarkers with FOLH1 (Females)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87210-E7CB-4C65-8F0C-F5334B76C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4708"/>
            <a:ext cx="5902614" cy="4722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377601-A094-4391-AAF9-93EE05F13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" y="1424708"/>
            <a:ext cx="5775534" cy="46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73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3362325" y="342900"/>
            <a:ext cx="549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of Interested biomarkers with FOLH1 (Males)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1D08F-6976-49DA-BD94-22C3644BB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39592"/>
            <a:ext cx="6073953" cy="4859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69A13B-6FEF-416C-93BB-08856530A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592"/>
            <a:ext cx="5969645" cy="477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12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9265493" y="496182"/>
            <a:ext cx="2926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MCP counter groups with significant differences </a:t>
            </a:r>
          </a:p>
          <a:p>
            <a:r>
              <a:rPr lang="en-US" u="sng" dirty="0"/>
              <a:t>between KO Male and </a:t>
            </a:r>
          </a:p>
          <a:p>
            <a:r>
              <a:rPr lang="en-US" u="sng" dirty="0"/>
              <a:t>KO  Female</a:t>
            </a:r>
            <a:endParaRPr lang="en-SE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99F3C-4322-4990-8B34-064330D6D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00" y="584673"/>
            <a:ext cx="4043992" cy="3169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258BC4-5179-4624-AFC4-223B00CA6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44" y="584674"/>
            <a:ext cx="4043992" cy="31696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71BC1E-14B3-460F-8CB4-66FB539AC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16" y="3688386"/>
            <a:ext cx="4043990" cy="3169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F4B4B9-21E2-4692-8FA6-D40152171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5" y="3688386"/>
            <a:ext cx="4043990" cy="316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9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9265493" y="496182"/>
            <a:ext cx="2926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MCP counter groups with significant differences </a:t>
            </a:r>
          </a:p>
          <a:p>
            <a:r>
              <a:rPr lang="en-US" u="sng" dirty="0"/>
              <a:t>between KO Male and </a:t>
            </a:r>
          </a:p>
          <a:p>
            <a:r>
              <a:rPr lang="en-US" u="sng" dirty="0"/>
              <a:t>WT Male</a:t>
            </a:r>
            <a:endParaRPr lang="en-SE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D4583-CA3D-41FD-9426-C46748BC1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33" y="321632"/>
            <a:ext cx="3964572" cy="3107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ACE721-7B14-4B39-BD23-85470B97A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862" y="321632"/>
            <a:ext cx="4043990" cy="31696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16BEA7-784D-414A-8677-BBEE335CF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66" y="3491246"/>
            <a:ext cx="4237706" cy="332144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4B1D64-CBF7-4ABB-BEE2-A3BFC1415353}"/>
              </a:ext>
            </a:extLst>
          </p:cNvPr>
          <p:cNvSpPr/>
          <p:nvPr/>
        </p:nvSpPr>
        <p:spPr>
          <a:xfrm>
            <a:off x="4899830" y="3806890"/>
            <a:ext cx="7292170" cy="3051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3C5C04-0366-4DCA-9526-8AE918F602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138" y="4272833"/>
            <a:ext cx="2760322" cy="21634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7DDDD9-57BA-4A1F-B6D8-64004952FE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894" y="4272833"/>
            <a:ext cx="2887958" cy="22635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AD1087-65B9-43D4-8DC3-33C809FF156D}"/>
              </a:ext>
            </a:extLst>
          </p:cNvPr>
          <p:cNvSpPr txBox="1"/>
          <p:nvPr/>
        </p:nvSpPr>
        <p:spPr>
          <a:xfrm>
            <a:off x="11009745" y="3806890"/>
            <a:ext cx="1385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Almost significant</a:t>
            </a:r>
            <a:endParaRPr lang="en-SE" sz="1100" dirty="0"/>
          </a:p>
        </p:txBody>
      </p:sp>
    </p:spTree>
    <p:extLst>
      <p:ext uri="{BB962C8B-B14F-4D97-AF65-F5344CB8AC3E}">
        <p14:creationId xmlns:p14="http://schemas.microsoft.com/office/powerpoint/2010/main" val="1336317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31952-70FC-4861-819D-6F99627591EB}"/>
              </a:ext>
            </a:extLst>
          </p:cNvPr>
          <p:cNvSpPr txBox="1"/>
          <p:nvPr/>
        </p:nvSpPr>
        <p:spPr>
          <a:xfrm>
            <a:off x="822037" y="584414"/>
            <a:ext cx="5089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MCP counter groups with significant differences </a:t>
            </a:r>
          </a:p>
          <a:p>
            <a:r>
              <a:rPr lang="en-US" u="sng" dirty="0"/>
              <a:t>between KO Female and WT Female</a:t>
            </a:r>
            <a:endParaRPr lang="en-SE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AA20E-F6C8-4374-8514-54E1A4FFE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94" y="1937956"/>
            <a:ext cx="5175461" cy="4056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F392B-7EAA-405E-AD55-EE8D5EFDC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937958"/>
            <a:ext cx="5175460" cy="405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11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3. Syngeneic tumor with PIP5K1A WT &amp; KO</a:t>
            </a:r>
            <a:br>
              <a:rPr lang="en-US" sz="3200" dirty="0"/>
            </a:br>
            <a:r>
              <a:rPr lang="en-US" sz="3200" dirty="0"/>
              <a:t>treated with PINK1-OE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1380609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C689AE-D674-4C5F-B45F-872403288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7" y="1331843"/>
            <a:ext cx="5124965" cy="4441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CD7A65-CB2D-492D-9CFE-72D6DF79C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150" y="1356810"/>
            <a:ext cx="5791200" cy="44547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B4AC0B-0E3A-4C9F-9938-97149F06A3A0}"/>
              </a:ext>
            </a:extLst>
          </p:cNvPr>
          <p:cNvSpPr/>
          <p:nvPr/>
        </p:nvSpPr>
        <p:spPr>
          <a:xfrm>
            <a:off x="11229975" y="4362450"/>
            <a:ext cx="190500" cy="7143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1BD162-E47A-4112-A30E-8C05722FFDEE}"/>
              </a:ext>
            </a:extLst>
          </p:cNvPr>
          <p:cNvSpPr/>
          <p:nvPr/>
        </p:nvSpPr>
        <p:spPr>
          <a:xfrm>
            <a:off x="10869575" y="4362450"/>
            <a:ext cx="190500" cy="7143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D6C6F6-AC12-4D27-9838-37AA26B885E2}"/>
              </a:ext>
            </a:extLst>
          </p:cNvPr>
          <p:cNvSpPr/>
          <p:nvPr/>
        </p:nvSpPr>
        <p:spPr>
          <a:xfrm>
            <a:off x="6956350" y="3584194"/>
            <a:ext cx="190500" cy="7143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56B4F-9426-4B56-A4B8-609F55F6F704}"/>
              </a:ext>
            </a:extLst>
          </p:cNvPr>
          <p:cNvSpPr/>
          <p:nvPr/>
        </p:nvSpPr>
        <p:spPr>
          <a:xfrm>
            <a:off x="10155200" y="3790950"/>
            <a:ext cx="190500" cy="7143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89F9D3-E785-44ED-9AEA-C97B5A249E76}"/>
              </a:ext>
            </a:extLst>
          </p:cNvPr>
          <p:cNvSpPr/>
          <p:nvPr/>
        </p:nvSpPr>
        <p:spPr>
          <a:xfrm>
            <a:off x="7320624" y="4148137"/>
            <a:ext cx="190500" cy="7143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DDD16-F496-42FC-ADFC-F5AB274658FE}"/>
              </a:ext>
            </a:extLst>
          </p:cNvPr>
          <p:cNvSpPr/>
          <p:nvPr/>
        </p:nvSpPr>
        <p:spPr>
          <a:xfrm>
            <a:off x="7684898" y="4148137"/>
            <a:ext cx="190500" cy="7143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6C366-FAEC-43BB-8187-6351567C1D89}"/>
              </a:ext>
            </a:extLst>
          </p:cNvPr>
          <p:cNvSpPr/>
          <p:nvPr/>
        </p:nvSpPr>
        <p:spPr>
          <a:xfrm>
            <a:off x="6629947" y="2271712"/>
            <a:ext cx="190500" cy="7143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C0FCE5-2B45-43F0-B3DE-3B69F02EE16D}"/>
              </a:ext>
            </a:extLst>
          </p:cNvPr>
          <p:cNvSpPr/>
          <p:nvPr/>
        </p:nvSpPr>
        <p:spPr>
          <a:xfrm>
            <a:off x="9440825" y="4243387"/>
            <a:ext cx="190500" cy="7143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AD5C55-5CBE-496A-AA36-DA522D580D92}"/>
              </a:ext>
            </a:extLst>
          </p:cNvPr>
          <p:cNvSpPr/>
          <p:nvPr/>
        </p:nvSpPr>
        <p:spPr>
          <a:xfrm>
            <a:off x="9083638" y="4243386"/>
            <a:ext cx="190500" cy="7143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2F2417-0E20-4F58-9397-BA31305D1290}"/>
              </a:ext>
            </a:extLst>
          </p:cNvPr>
          <p:cNvSpPr/>
          <p:nvPr/>
        </p:nvSpPr>
        <p:spPr>
          <a:xfrm>
            <a:off x="9784500" y="3729037"/>
            <a:ext cx="190500" cy="7143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3F238A-B963-4BC6-A384-9809D7A9DCE7}"/>
              </a:ext>
            </a:extLst>
          </p:cNvPr>
          <p:cNvSpPr/>
          <p:nvPr/>
        </p:nvSpPr>
        <p:spPr>
          <a:xfrm>
            <a:off x="10492678" y="4119561"/>
            <a:ext cx="190500" cy="7143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3262F6-C36B-4AF7-BA3A-85252AD7C47A}"/>
              </a:ext>
            </a:extLst>
          </p:cNvPr>
          <p:cNvSpPr/>
          <p:nvPr/>
        </p:nvSpPr>
        <p:spPr>
          <a:xfrm>
            <a:off x="8734085" y="4148801"/>
            <a:ext cx="190500" cy="71437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CACDD5-A41C-4D83-85E9-ECFA4DD38110}"/>
              </a:ext>
            </a:extLst>
          </p:cNvPr>
          <p:cNvSpPr/>
          <p:nvPr/>
        </p:nvSpPr>
        <p:spPr>
          <a:xfrm>
            <a:off x="8383654" y="4348162"/>
            <a:ext cx="190500" cy="71437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380690-8961-40ED-9CD3-13F6C630EBDE}"/>
              </a:ext>
            </a:extLst>
          </p:cNvPr>
          <p:cNvSpPr/>
          <p:nvPr/>
        </p:nvSpPr>
        <p:spPr>
          <a:xfrm>
            <a:off x="8023261" y="4338637"/>
            <a:ext cx="190500" cy="71437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5220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DBB96A-B595-48F1-96A0-7CF94CAEE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918" y="528967"/>
            <a:ext cx="6628647" cy="58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33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00400" y="244549"/>
            <a:ext cx="6267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in WT (PINK1 treated vs control)</a:t>
            </a:r>
            <a:endParaRPr lang="en-S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45E7D5-0EC1-441C-84B5-9488DBB6F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29" y="879696"/>
            <a:ext cx="4884456" cy="58613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9B0BDB-6C60-44F2-9EEE-54A9EFD7E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290" y="821217"/>
            <a:ext cx="4981920" cy="597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0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00400" y="244549"/>
            <a:ext cx="621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in KO (PINK1 treated vs control)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12C10-9CFD-42B9-99D8-E0F39E2F3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51" y="967563"/>
            <a:ext cx="4704906" cy="5645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08DBA8-5E27-4DCB-A8A9-0B97271BC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871870"/>
            <a:ext cx="4704906" cy="564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79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74828" y="215841"/>
            <a:ext cx="591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in PINK1 treated (WT vs KO)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50F78-14D2-4D8E-B02D-1D9629142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98" y="818707"/>
            <a:ext cx="4852876" cy="5823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3B49F-6B1F-47CA-9B14-FB0B99AA7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777" y="818708"/>
            <a:ext cx="4945026" cy="593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56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2838893" y="385962"/>
            <a:ext cx="600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in PINK1 Controls (WT vs KO)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7C009-99EE-4D56-AC5A-5F1B781F3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64" y="1040586"/>
            <a:ext cx="4736340" cy="5683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17B1DF-CCE6-4A6E-864A-769943CFC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275" y="1040586"/>
            <a:ext cx="4736340" cy="56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770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690F46-5D2F-48D3-87C3-A3E75303B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95" y="774404"/>
            <a:ext cx="8389610" cy="5872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BE53EF-F220-4A5F-B648-AF5C25F1F168}"/>
              </a:ext>
            </a:extLst>
          </p:cNvPr>
          <p:cNvSpPr txBox="1"/>
          <p:nvPr/>
        </p:nvSpPr>
        <p:spPr>
          <a:xfrm>
            <a:off x="2642426" y="405072"/>
            <a:ext cx="6907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 (PINK1 treated) vs Control Pathway &amp; Immune enrichment Summary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21942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648143" y="328812"/>
            <a:ext cx="459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Pathway analysis WT (PINK1 treated vs control)</a:t>
            </a:r>
            <a:endParaRPr lang="en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A6E518-1A62-44AD-AF99-705ABE432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787395"/>
            <a:ext cx="9105908" cy="607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23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42FC7D-A52E-4A72-A4FE-672B4F5C4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71" y="447676"/>
            <a:ext cx="9250858" cy="61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63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C5D3C-FE02-4275-9088-8A7EE7B44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15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58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BE2F5-C36B-4395-9473-A97651252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285750"/>
            <a:ext cx="9810759" cy="588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7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BE53EF-F220-4A5F-B648-AF5C25F1F168}"/>
              </a:ext>
            </a:extLst>
          </p:cNvPr>
          <p:cNvSpPr txBox="1"/>
          <p:nvPr/>
        </p:nvSpPr>
        <p:spPr>
          <a:xfrm>
            <a:off x="2642426" y="405072"/>
            <a:ext cx="689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 (PINK1 treated vs Control) Pathway &amp; Immune enrichment Summary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ADE67-321A-4472-9247-5264C85E5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691" y="844216"/>
            <a:ext cx="8012445" cy="56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999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C2BEE-96BF-44EA-99AA-E73AA5593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0" y="621139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90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B4A18-D7F9-4BAE-9CA7-A59541695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522" y="522313"/>
            <a:ext cx="9688955" cy="58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465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4. Syngeneic tumor with PIP5K1A WT</a:t>
            </a:r>
            <a:br>
              <a:rPr lang="en-US" sz="3200" dirty="0"/>
            </a:br>
            <a:r>
              <a:rPr lang="en-US" sz="3200" dirty="0"/>
              <a:t>treated with MTK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124741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E2FE8D-80D0-4406-8FA7-1DEBB9973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64" y="647700"/>
            <a:ext cx="5127039" cy="4443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CC551-5F57-4102-8D9F-AA1056ED2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483" y="647700"/>
            <a:ext cx="5776463" cy="4443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2445AA-CA16-4B75-880C-044AFD5F8F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61" b="35339"/>
          <a:stretch/>
        </p:blipFill>
        <p:spPr>
          <a:xfrm>
            <a:off x="2133592" y="5844148"/>
            <a:ext cx="7924816" cy="6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414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5CDFD-015A-4F31-B3BB-809A0E561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42" y="1137683"/>
            <a:ext cx="4459471" cy="5351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C8E95-1A47-4EE7-9297-CFB28832C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46" y="1185530"/>
            <a:ext cx="4459471" cy="5351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67894-DD33-4FDE-82B3-0F785FF89CB1}"/>
              </a:ext>
            </a:extLst>
          </p:cNvPr>
          <p:cNvSpPr txBox="1"/>
          <p:nvPr/>
        </p:nvSpPr>
        <p:spPr>
          <a:xfrm>
            <a:off x="1881962" y="411482"/>
            <a:ext cx="2257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14 significant DEGs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F9EDE-6540-42D2-AD30-A6DEB7834434}"/>
              </a:ext>
            </a:extLst>
          </p:cNvPr>
          <p:cNvSpPr txBox="1"/>
          <p:nvPr/>
        </p:nvSpPr>
        <p:spPr>
          <a:xfrm>
            <a:off x="7889358" y="411482"/>
            <a:ext cx="1347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50 DEGs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547510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B03E1-9D62-4E31-AC0C-FE75AD098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05" y="490369"/>
            <a:ext cx="8911960" cy="623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35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29433-6B17-4C0B-9D04-767672514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30" y="295835"/>
            <a:ext cx="8426824" cy="632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70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46562B-44E9-42A0-9F69-41F0C356F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015" y="574859"/>
            <a:ext cx="7611044" cy="570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144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41819-3F51-42CA-9008-24061CA91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656" y="363074"/>
            <a:ext cx="8462687" cy="63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07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DBC0DA-6853-4A2F-86FB-E35966D75913}"/>
              </a:ext>
            </a:extLst>
          </p:cNvPr>
          <p:cNvSpPr txBox="1"/>
          <p:nvPr/>
        </p:nvSpPr>
        <p:spPr>
          <a:xfrm>
            <a:off x="1875685" y="315256"/>
            <a:ext cx="4610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Expression patterns with Significant differences</a:t>
            </a:r>
          </a:p>
          <a:p>
            <a:pPr algn="ctr"/>
            <a:r>
              <a:rPr lang="en-US" u="sng" dirty="0"/>
              <a:t> between Males and Females in WT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C2C9F-4092-45C7-B45E-ED41E0114808}"/>
              </a:ext>
            </a:extLst>
          </p:cNvPr>
          <p:cNvSpPr txBox="1"/>
          <p:nvPr/>
        </p:nvSpPr>
        <p:spPr>
          <a:xfrm>
            <a:off x="5425561" y="5239838"/>
            <a:ext cx="239310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0" dirty="0">
                <a:solidFill>
                  <a:srgbClr val="212529"/>
                </a:solidFill>
                <a:effectLst/>
                <a:latin typeface="-apple-system"/>
              </a:rPr>
              <a:t>RB1: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 a tumor suppressor that </a:t>
            </a:r>
            <a:r>
              <a:rPr lang="en-US" sz="1050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restrains the G1/S cell cycle transition </a:t>
            </a:r>
            <a:r>
              <a:rPr lang="en-US" sz="1050" i="0" dirty="0">
                <a:solidFill>
                  <a:srgbClr val="212529"/>
                </a:solidFill>
                <a:effectLst/>
                <a:latin typeface="-apple-system"/>
              </a:rPr>
              <a:t>by binding and inhibiting E2F transcription factors in its hypo-phosphorylated state. </a:t>
            </a:r>
            <a:endParaRPr lang="en-SE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C8377F-9E86-4BE1-B74C-787E1B683DE3}"/>
              </a:ext>
            </a:extLst>
          </p:cNvPr>
          <p:cNvSpPr txBox="1"/>
          <p:nvPr/>
        </p:nvSpPr>
        <p:spPr>
          <a:xfrm>
            <a:off x="1085739" y="5401421"/>
            <a:ext cx="239310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212529"/>
                </a:solidFill>
                <a:effectLst/>
                <a:latin typeface="-apple-system"/>
              </a:rPr>
              <a:t>FOLH1: 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encodes folate hydrolase 1, a type II transmembrane glycoprotein state. Through its folate hydrolase activity, FOLH1 </a:t>
            </a:r>
            <a:r>
              <a:rPr lang="en-US" sz="105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mediates folate absorption in the gut</a:t>
            </a:r>
            <a:r>
              <a:rPr lang="en-US" sz="1050" dirty="0">
                <a:solidFill>
                  <a:srgbClr val="212529"/>
                </a:solidFill>
                <a:effectLst/>
                <a:latin typeface="-apple-system"/>
              </a:rPr>
              <a:t>. </a:t>
            </a:r>
            <a:endParaRPr lang="en-SE" sz="10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ADBC5B-6304-4E8E-A22A-EAD8FBC4EB74}"/>
              </a:ext>
            </a:extLst>
          </p:cNvPr>
          <p:cNvCxnSpPr>
            <a:cxnSpLocks/>
          </p:cNvCxnSpPr>
          <p:nvPr/>
        </p:nvCxnSpPr>
        <p:spPr>
          <a:xfrm>
            <a:off x="8641976" y="0"/>
            <a:ext cx="1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6FCCCEC-EA90-431F-8425-64883B76D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47" y="1579512"/>
            <a:ext cx="3749986" cy="34374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B4B574-2030-4D19-8D72-3EDF63DFC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257" y="1471138"/>
            <a:ext cx="3868212" cy="3545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CB2179-9B58-4B73-9869-5B08F986C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820" y="692429"/>
            <a:ext cx="2849381" cy="26119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59F566-5306-41D1-977F-0C49B0336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91" y="3724553"/>
            <a:ext cx="3046437" cy="279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87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5. Syngeneic tumor with PIP5K1A WT &amp; KO (two flanks) treated with MTK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3345707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CB9670-6FAD-48E8-958F-590021426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68" y="1149088"/>
            <a:ext cx="5261335" cy="4559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08E542-CDD5-4126-8D87-79036002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03" y="1038442"/>
            <a:ext cx="6071611" cy="467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77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859445-D8AC-4DEB-8831-D27E87E5A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731521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4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74828" y="215841"/>
            <a:ext cx="6204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WT (MTK treated vs control)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43A1AC-DD2F-4215-85A2-DE07818DD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184" y="782780"/>
            <a:ext cx="4882816" cy="5859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D0A3EC-D626-41F3-AF35-5DBCC13A9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1" y="877578"/>
            <a:ext cx="4882816" cy="585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086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74828" y="215841"/>
            <a:ext cx="6204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KO (MTK treated vs control)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A8C96-1C30-4581-B7F9-BBED52DA9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72" y="764425"/>
            <a:ext cx="4898112" cy="5877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892D4E-092A-4C6C-A970-C3161550D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090" y="764425"/>
            <a:ext cx="5011859" cy="601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135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008128" y="215841"/>
            <a:ext cx="580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MTK treated (WT vs KO)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BA757-001C-4798-A226-E2E591131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761998"/>
            <a:ext cx="5029201" cy="6035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1F3252-F857-4E7B-A399-32A52EB23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89" y="761999"/>
            <a:ext cx="5029201" cy="60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10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008128" y="215841"/>
            <a:ext cx="5866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MTK controls (WT vs KO)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1583B-1BC7-488C-9A9D-CEFBF7816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50" y="800100"/>
            <a:ext cx="5010150" cy="6012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8A4DCD-D95F-4590-8179-2236AEA24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38" y="730735"/>
            <a:ext cx="5058661" cy="607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642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1D5AC3-4831-478D-A2E2-E1165339C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958" y="227870"/>
            <a:ext cx="9146084" cy="640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632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E8C8E-9505-490C-BBF6-34EA007A6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40" y="494604"/>
            <a:ext cx="9781319" cy="586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94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B33B7-23B2-40BF-AB75-1121640D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17" y="630376"/>
            <a:ext cx="9624301" cy="577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150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3ED98-81A6-4536-BE9E-AF01CCCCA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667" y="406401"/>
            <a:ext cx="10086887" cy="605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962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61784-F3EA-44AA-A0A5-F9D4C32E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58" y="571268"/>
            <a:ext cx="8655515" cy="605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811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3F110-40E9-4AC4-8AB8-DDC0F081F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972" y="497379"/>
            <a:ext cx="10012228" cy="600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609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0A5F5-C389-4C37-B3D8-B79AD9C7C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082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97BC6-63B9-4498-8F4D-F47E1D84C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72" y="599899"/>
            <a:ext cx="9430337" cy="565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437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4D9D-207C-40E2-BBBD-14273B02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18" y="2330112"/>
            <a:ext cx="393808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6. Syngeneic tumor with PIP5K1A WT &amp; KO treated with ISA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1122336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CCBD-BF94-4B10-A627-B3B4B7CFD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528" y="720615"/>
            <a:ext cx="5991365" cy="4493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8B03BC-F35E-489A-9F55-00F94BAB4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94" y="720615"/>
            <a:ext cx="5184835" cy="449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628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942A7A-FD1A-4AB3-8F8C-434AC4108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731521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7995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2835043" y="225366"/>
            <a:ext cx="6521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ISA treated vs control (all sexes)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2659A-168A-4131-80C1-F4836C4EC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" y="823298"/>
            <a:ext cx="4781550" cy="5737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F443F-7882-471A-A96B-2E3FB3AEF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811292"/>
            <a:ext cx="4781550" cy="573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629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3291036" y="225366"/>
            <a:ext cx="662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ISA treated vs control (in female)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51955-0FFC-4B6C-ACEE-E777DC9DD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4" y="925830"/>
            <a:ext cx="4562475" cy="5474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9B5F7-DA5B-4D0F-8EB6-04F491688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9" y="837623"/>
            <a:ext cx="4829176" cy="579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651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2829464" y="330141"/>
            <a:ext cx="6533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ISA treated vs control (in males)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81A0F-80B4-4935-998F-EF0657D79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824289"/>
            <a:ext cx="4752975" cy="5703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E05EA-3F35-460D-A27E-B5BA823FC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50" y="895350"/>
            <a:ext cx="4752975" cy="570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752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2858039" y="330141"/>
            <a:ext cx="630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ISA controls (Male vs Female)</a:t>
            </a:r>
            <a:endParaRPr lang="en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E38B0D-F76A-42F2-BA15-55D58D10C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900112"/>
            <a:ext cx="4848225" cy="5817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D469AD-F781-4934-996F-8D70A67AF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03" y="900111"/>
            <a:ext cx="4848224" cy="581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946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8267A4-874B-4DDA-9B72-0B0055A75072}"/>
              </a:ext>
            </a:extLst>
          </p:cNvPr>
          <p:cNvSpPr txBox="1"/>
          <p:nvPr/>
        </p:nvSpPr>
        <p:spPr>
          <a:xfrm>
            <a:off x="2858039" y="330141"/>
            <a:ext cx="6244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Expressional Analysis of ISA treated (Male vs Female)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914C4-CAE8-4C3D-836A-5D717F062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7" y="863541"/>
            <a:ext cx="4900133" cy="588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3B8C5A-4F22-41D4-8C4E-3C377CEE8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054" y="758705"/>
            <a:ext cx="4987496" cy="59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4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15570</TotalTime>
  <Words>711</Words>
  <Application>Microsoft Office PowerPoint</Application>
  <PresentationFormat>Widescreen</PresentationFormat>
  <Paragraphs>69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-apple-system</vt:lpstr>
      <vt:lpstr>Arial</vt:lpstr>
      <vt:lpstr>Calibri</vt:lpstr>
      <vt:lpstr>Calibri Light</vt:lpstr>
      <vt:lpstr>Office Theme</vt:lpstr>
      <vt:lpstr>Novogene May 2026 Mouse Samples Analysis</vt:lpstr>
      <vt:lpstr>1. Original tumor (2026) with PIP5K1A WT &amp; KO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Male v Female for both PIP5K1A WT &amp; KO (Syngeneic tumor controls combined)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Syngeneic tumor with PIP5K1A WT &amp; KO treated with PINK1-OE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Syngeneic tumor with PIP5K1A WT treated with MTK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Syngeneic tumor with PIP5K1A WT &amp; KO (two flanks) treated with MTK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Syngeneic tumor with PIP5K1A WT &amp; KO treated with ISA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Novogene May 2026 Mouse Samples Analysis</dc:title>
  <dc:creator>Ravindu Sachintha Haupe Liyanage</dc:creator>
  <cp:lastModifiedBy>Ravindu Sachintha Haupe Liyanage</cp:lastModifiedBy>
  <cp:revision>95</cp:revision>
  <dcterms:created xsi:type="dcterms:W3CDTF">2026-08-03T12:58:47Z</dcterms:created>
  <dcterms:modified xsi:type="dcterms:W3CDTF">2026-08-20T08:31:12Z</dcterms:modified>
</cp:coreProperties>
</file>